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7" r:id="rId4"/>
    <p:sldId id="260" r:id="rId5"/>
    <p:sldId id="259" r:id="rId6"/>
    <p:sldId id="262" r:id="rId7"/>
    <p:sldId id="258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AmIP+Ec4Zbf9v3ELDSuyXA==" hashData="1RPIkjHkXZtynD5jfAHpCqNdXk6vW/VnaPx4FZ5ZzSVcHSBm3ZoYgMmTyEMCkGZVRUv7duWziMrAbJ4BRKnmR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CD9D"/>
    <a:srgbClr val="12FAC3"/>
    <a:srgbClr val="F5576C"/>
    <a:srgbClr val="FFFFFF"/>
    <a:srgbClr val="155DFB"/>
    <a:srgbClr val="FDE3F6"/>
    <a:srgbClr val="DEFEF6"/>
    <a:srgbClr val="FBC2EB"/>
    <a:srgbClr val="E6A570"/>
    <a:srgbClr val="E96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0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0" y="-7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EFB52-6157-4A25-8AA9-9E06B01967B0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9C9A-68B4-4396-BC6F-246FF595BE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858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69C9A-68B4-4396-BC6F-246FF595BE4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808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0A7AF-274A-68F5-9FED-C7048A7C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1937FA-ADE8-86E5-D0BF-6FEAACA3D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6CD1D0-FB5F-47C2-F798-AF2D5E5FB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5A4F5E-C5C1-6630-3453-86D4403C5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69C9A-68B4-4396-BC6F-246FF595BE4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38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DAC7-559C-8E25-FFDA-1AB7B9B0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DFD97E-429E-A6A6-C2C3-6EE0A25C5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B06F49-E690-0A07-0C1B-4CE833034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EF555-C7BA-22BA-95E1-037102FC7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69C9A-68B4-4396-BC6F-246FF595BE4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586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1B3CC-3ED5-93D4-9AE7-F6A0540F7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92E530-DEA5-5780-A833-7136AFD14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6A6507-911B-23AF-B44F-BE9502D64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33E1F0-4055-49E8-38E5-813A43165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69C9A-68B4-4396-BC6F-246FF595BE4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65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54CC-5794-D9C7-F122-95347FBCA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54999B-996F-B6E2-64F5-BAA63C614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320263-C8CD-6609-3171-F2E35FD93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5BD314-378F-5023-BC42-DF737AD13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69C9A-68B4-4396-BC6F-246FF595BE4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21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D57A2-D279-023E-CCCD-E87A3F1F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5C52F0-CA17-D506-55E1-1321958B0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C67FB4-5A80-EC99-34D1-845D40DE9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6041D-46BE-047D-86EA-D701617F4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69C9A-68B4-4396-BC6F-246FF595BE4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7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88255-DD5D-F8D8-25CF-621634030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F4A8E1-13D2-B89E-4F7D-4AD5E91E2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A0390-47DA-790B-594B-949A97A8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A8510F-774C-BE20-CD71-34DE96D8C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52B289-2902-7F73-0014-B3DAEA6C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199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AE32A-8640-0E34-E282-AD0FACA0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29857E-F3BD-4BB3-EEF0-54C2A60FD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9F1F57-F086-305B-2F9A-9DA5B886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07206D-FB81-AA2B-18A4-1D1C9FEA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970884-D794-4FE3-0702-DB093198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612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2A06E-684B-3681-7778-90BD3FB0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10FE2D-7461-45DC-CE34-2D20584D9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891EB9-ACCC-8A65-30C4-B792CFD3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75275-7262-ACD3-F0B7-7CC9A7452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39BC0E-AE18-2335-47B0-0B48D2D2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55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CE4B2-6F5C-2224-A801-8472FA37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72616-0CDF-5C35-1BE2-760066EE9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A04870-A964-359A-19D5-D763350E1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BCE9A0-15D5-73EC-23B4-EEE165CE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58B7B1-5196-7C35-DCEC-7A2C49C1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1F1DFC-9D6B-7FCC-DCDC-BF9A0161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442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638FE-4692-7DB5-B190-3323610C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195D70-F014-2A63-19E1-D721AFDC2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A3D21D-5087-14F6-B2D5-94BDD832D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DEBA76-4D7B-B85D-4F29-720BE65E3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F6AF15-5DEB-479A-47DF-830BBA281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D5E25F-9C71-13CB-CF63-2DC5413E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7CF909-42E7-F46D-5CDF-AE17C8A4A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430EA2-FB58-155A-BA6E-B1619E10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25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22200-09C6-43C7-59AF-3755FD14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C28DE8-E989-AC62-BBE6-4C2E9FAD5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F1A8E7-D7C5-30D5-B053-33A496A7D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C77F8A-BA04-9369-0B29-AA536962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786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B94DEA-7B65-8AB0-8B17-EC0669F0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1367C3-26A8-C6DF-37CB-CF0477FDE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3FDC3B-AEBC-DF89-9F91-982E42F5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84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98095-2F22-5701-6464-FFA8D23FF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08F063-4F04-1A15-2D18-98E64D687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004ACA-E5EE-259E-DA4B-2A218D9C9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D762FC-F126-729F-0BFD-266A11CCC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65DB60-4061-7609-B89B-6D62D0C75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1CF636-6CA9-FC49-4800-A4CFBCE6A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584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79DF2-6EDF-EBEE-1D3F-E52DA376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F5FFDB-2DFA-9FB7-4ED8-9757EBD48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8BEF6E-EC31-F2C9-230D-56016024B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40B15A-C693-7B2E-8609-A70D3F739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ABDA33-F835-FA36-4A48-95F115AB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CCA3CD-469C-543C-5A1B-2F77149A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659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E35C2-1963-E2E1-C595-073A2972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1902E4-7921-A10F-45BE-EC12579AF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FBC16D-95B7-DC58-37C1-72E2B410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3559DC-CBB9-82D3-A3E4-1D40C9617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5C5115-25D9-4EA4-112B-68C6F0F2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952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D7DE01-D823-2F46-ABCC-B7F715FDC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C650EC-43AE-D90D-613C-746B106C1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B19AD-592B-4AA9-89F9-3D2F2795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18CB9-6148-2B24-D4FA-5E654AE2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255C54-71E7-B459-6D86-E650195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315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DE3F6"/>
            </a:gs>
            <a:gs pos="100000">
              <a:srgbClr val="DEFEF6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438315-0565-03B9-D372-B57BDDF7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3F6E5C-E609-41BD-65B8-6AEAFD428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0AFCDB-2667-964B-EBE6-7BCF86F46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71C3A-F544-48A2-9EBC-39674D1A7785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FDC37D-51B5-2B89-EA8B-CE3B29313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242FE-C6C6-E770-9CFE-90C11D2444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1D695-D212-4BE5-A8BF-9DD8D3070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67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0BC94D-2EFB-9843-C6C7-6B05D0BAD8E4}"/>
              </a:ext>
            </a:extLst>
          </p:cNvPr>
          <p:cNvSpPr/>
          <p:nvPr/>
        </p:nvSpPr>
        <p:spPr>
          <a:xfrm>
            <a:off x="2612708" y="2105025"/>
            <a:ext cx="3095625" cy="2647950"/>
          </a:xfrm>
          <a:prstGeom prst="roundRect">
            <a:avLst>
              <a:gd name="adj" fmla="val 367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DF38F0-619B-7294-FA2E-2A4CF63CC411}"/>
              </a:ext>
            </a:extLst>
          </p:cNvPr>
          <p:cNvSpPr txBox="1"/>
          <p:nvPr/>
        </p:nvSpPr>
        <p:spPr>
          <a:xfrm>
            <a:off x="2612707" y="2281985"/>
            <a:ext cx="309562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solidFill>
                  <a:srgbClr val="155DF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MindStock</a:t>
            </a:r>
            <a:endParaRPr lang="ko-KR" altLang="en-US" sz="2000" dirty="0">
              <a:solidFill>
                <a:srgbClr val="155DF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B5C6534-0C83-E38F-01E0-8A5A1382D585}"/>
              </a:ext>
            </a:extLst>
          </p:cNvPr>
          <p:cNvSpPr/>
          <p:nvPr/>
        </p:nvSpPr>
        <p:spPr>
          <a:xfrm>
            <a:off x="2854417" y="2804282"/>
            <a:ext cx="2620185" cy="353593"/>
          </a:xfrm>
          <a:prstGeom prst="roundRect">
            <a:avLst>
              <a:gd name="adj" fmla="val 16845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닉네임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87506E9-7B52-EC30-1872-40C13EF24908}"/>
              </a:ext>
            </a:extLst>
          </p:cNvPr>
          <p:cNvSpPr/>
          <p:nvPr/>
        </p:nvSpPr>
        <p:spPr>
          <a:xfrm>
            <a:off x="2854417" y="3332602"/>
            <a:ext cx="2620185" cy="353593"/>
          </a:xfrm>
          <a:prstGeom prst="roundRect">
            <a:avLst>
              <a:gd name="adj" fmla="val 16845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비밀번호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79341CB-2427-FE74-B745-06E1BBA13568}"/>
              </a:ext>
            </a:extLst>
          </p:cNvPr>
          <p:cNvSpPr/>
          <p:nvPr/>
        </p:nvSpPr>
        <p:spPr>
          <a:xfrm>
            <a:off x="2854417" y="3854245"/>
            <a:ext cx="2620185" cy="353593"/>
          </a:xfrm>
          <a:prstGeom prst="roundRect">
            <a:avLst>
              <a:gd name="adj" fmla="val 16845"/>
            </a:avLst>
          </a:prstGeom>
          <a:solidFill>
            <a:srgbClr val="155DFC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로그인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2E4D15-A571-9191-0558-64571F0828A1}"/>
              </a:ext>
            </a:extLst>
          </p:cNvPr>
          <p:cNvSpPr txBox="1"/>
          <p:nvPr/>
        </p:nvSpPr>
        <p:spPr>
          <a:xfrm>
            <a:off x="3270250" y="4315910"/>
            <a:ext cx="178054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아직 회원이 </a:t>
            </a:r>
            <a:r>
              <a:rPr lang="ko-KR" altLang="en-US" sz="900" dirty="0" err="1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아니신가요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</a:t>
            </a:r>
            <a:r>
              <a:rPr lang="ko-KR" altLang="en-US" sz="900" dirty="0">
                <a:solidFill>
                  <a:srgbClr val="155DFC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회원가입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993B0E0-D593-48A5-BB43-647D30B766AA}"/>
              </a:ext>
            </a:extLst>
          </p:cNvPr>
          <p:cNvSpPr/>
          <p:nvPr/>
        </p:nvSpPr>
        <p:spPr>
          <a:xfrm>
            <a:off x="6483668" y="2105025"/>
            <a:ext cx="3095625" cy="2647950"/>
          </a:xfrm>
          <a:prstGeom prst="roundRect">
            <a:avLst>
              <a:gd name="adj" fmla="val 367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D06F1B-89D5-7312-95B2-03A4A7B7784D}"/>
              </a:ext>
            </a:extLst>
          </p:cNvPr>
          <p:cNvSpPr txBox="1"/>
          <p:nvPr/>
        </p:nvSpPr>
        <p:spPr>
          <a:xfrm>
            <a:off x="6483667" y="2205540"/>
            <a:ext cx="309562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solidFill>
                  <a:srgbClr val="155DFC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MindStock</a:t>
            </a:r>
            <a:endParaRPr lang="ko-KR" altLang="en-US" sz="2000" dirty="0">
              <a:solidFill>
                <a:srgbClr val="155DFC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FCC041F-4FD7-B3AD-A585-C7F3B844C195}"/>
              </a:ext>
            </a:extLst>
          </p:cNvPr>
          <p:cNvSpPr/>
          <p:nvPr/>
        </p:nvSpPr>
        <p:spPr>
          <a:xfrm>
            <a:off x="6725377" y="2804282"/>
            <a:ext cx="2620185" cy="353593"/>
          </a:xfrm>
          <a:prstGeom prst="roundRect">
            <a:avLst>
              <a:gd name="adj" fmla="val 16845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Han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D044BE9-3D63-4871-EF91-D09919AC6AB3}"/>
              </a:ext>
            </a:extLst>
          </p:cNvPr>
          <p:cNvSpPr/>
          <p:nvPr/>
        </p:nvSpPr>
        <p:spPr>
          <a:xfrm>
            <a:off x="6725377" y="3332602"/>
            <a:ext cx="2620185" cy="353593"/>
          </a:xfrm>
          <a:prstGeom prst="roundRect">
            <a:avLst>
              <a:gd name="adj" fmla="val 16845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…………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1180209-DB03-E094-4D35-46F4360C4998}"/>
              </a:ext>
            </a:extLst>
          </p:cNvPr>
          <p:cNvSpPr/>
          <p:nvPr/>
        </p:nvSpPr>
        <p:spPr>
          <a:xfrm>
            <a:off x="6725377" y="3854245"/>
            <a:ext cx="2620185" cy="353593"/>
          </a:xfrm>
          <a:prstGeom prst="roundRect">
            <a:avLst>
              <a:gd name="adj" fmla="val 16845"/>
            </a:avLst>
          </a:prstGeom>
          <a:solidFill>
            <a:srgbClr val="155DFC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로그인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5F71F6-EAFC-6E6A-A820-DE23F63411ED}"/>
              </a:ext>
            </a:extLst>
          </p:cNvPr>
          <p:cNvSpPr txBox="1"/>
          <p:nvPr/>
        </p:nvSpPr>
        <p:spPr>
          <a:xfrm>
            <a:off x="7141210" y="4315910"/>
            <a:ext cx="178054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아직 회원이 </a:t>
            </a:r>
            <a:r>
              <a:rPr lang="ko-KR" altLang="en-US" sz="900" dirty="0" err="1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아니신가요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</a:t>
            </a:r>
            <a:r>
              <a:rPr lang="ko-KR" altLang="en-US" sz="900" dirty="0">
                <a:solidFill>
                  <a:srgbClr val="155DFC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회원가입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16B166-EA31-71B0-ADBB-C0A5FA108CEE}"/>
              </a:ext>
            </a:extLst>
          </p:cNvPr>
          <p:cNvSpPr txBox="1"/>
          <p:nvPr/>
        </p:nvSpPr>
        <p:spPr>
          <a:xfrm>
            <a:off x="7141210" y="2525896"/>
            <a:ext cx="178054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F6004C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닉네임 혹은 비밀번호가 틀렸습니다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791C13-2C09-F8B5-CF04-2D4242C2C033}"/>
              </a:ext>
            </a:extLst>
          </p:cNvPr>
          <p:cNvSpPr txBox="1"/>
          <p:nvPr/>
        </p:nvSpPr>
        <p:spPr>
          <a:xfrm>
            <a:off x="1" y="593467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400" dirty="0">
                <a:solidFill>
                  <a:srgbClr val="05CD9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2260272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A109-F716-F12B-2929-5B096A5D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41FFBC0-72FB-9B9C-622E-E77EAA2B51C1}"/>
              </a:ext>
            </a:extLst>
          </p:cNvPr>
          <p:cNvSpPr/>
          <p:nvPr/>
        </p:nvSpPr>
        <p:spPr>
          <a:xfrm>
            <a:off x="2612708" y="2105025"/>
            <a:ext cx="3095625" cy="2647950"/>
          </a:xfrm>
          <a:prstGeom prst="roundRect">
            <a:avLst>
              <a:gd name="adj" fmla="val 367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488EE-574B-74AB-12F2-74420A9560BA}"/>
              </a:ext>
            </a:extLst>
          </p:cNvPr>
          <p:cNvSpPr txBox="1"/>
          <p:nvPr/>
        </p:nvSpPr>
        <p:spPr>
          <a:xfrm>
            <a:off x="2612707" y="2281985"/>
            <a:ext cx="309562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solidFill>
                  <a:srgbClr val="A61BE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MindStock</a:t>
            </a:r>
            <a:endParaRPr lang="ko-KR" altLang="en-US" sz="2000" dirty="0">
              <a:solidFill>
                <a:srgbClr val="A61BE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BA25491-EE78-DC6F-04F1-1C241894C753}"/>
              </a:ext>
            </a:extLst>
          </p:cNvPr>
          <p:cNvSpPr/>
          <p:nvPr/>
        </p:nvSpPr>
        <p:spPr>
          <a:xfrm>
            <a:off x="2854417" y="2804282"/>
            <a:ext cx="2620185" cy="353593"/>
          </a:xfrm>
          <a:prstGeom prst="roundRect">
            <a:avLst>
              <a:gd name="adj" fmla="val 16845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닉네임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B140479-C3AD-F9CA-24CA-A28A8C15C76B}"/>
              </a:ext>
            </a:extLst>
          </p:cNvPr>
          <p:cNvSpPr/>
          <p:nvPr/>
        </p:nvSpPr>
        <p:spPr>
          <a:xfrm>
            <a:off x="2854417" y="3332602"/>
            <a:ext cx="2620185" cy="353593"/>
          </a:xfrm>
          <a:prstGeom prst="roundRect">
            <a:avLst>
              <a:gd name="adj" fmla="val 16845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비밀번호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065C44A-2C0B-4297-4531-37D362D48AE9}"/>
              </a:ext>
            </a:extLst>
          </p:cNvPr>
          <p:cNvSpPr/>
          <p:nvPr/>
        </p:nvSpPr>
        <p:spPr>
          <a:xfrm>
            <a:off x="2854417" y="3854245"/>
            <a:ext cx="2620185" cy="353593"/>
          </a:xfrm>
          <a:prstGeom prst="roundRect">
            <a:avLst>
              <a:gd name="adj" fmla="val 16845"/>
            </a:avLst>
          </a:prstGeom>
          <a:gradFill>
            <a:gsLst>
              <a:gs pos="0">
                <a:srgbClr val="9913F9"/>
              </a:gs>
              <a:gs pos="56000">
                <a:srgbClr val="BD29BA"/>
              </a:gs>
              <a:gs pos="100000">
                <a:srgbClr val="E50077"/>
              </a:gs>
            </a:gsLst>
            <a:lin ang="0" scaled="0"/>
          </a:gra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회원가입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C736B9-87D6-0987-1C8A-9AA0CF76170B}"/>
              </a:ext>
            </a:extLst>
          </p:cNvPr>
          <p:cNvSpPr txBox="1"/>
          <p:nvPr/>
        </p:nvSpPr>
        <p:spPr>
          <a:xfrm>
            <a:off x="3270250" y="4315910"/>
            <a:ext cx="178054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 </a:t>
            </a:r>
            <a:r>
              <a:rPr lang="ko-KR" altLang="en-US" sz="900" dirty="0" err="1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회원이신가요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</a:t>
            </a:r>
            <a:r>
              <a:rPr lang="ko-KR" altLang="en-US" sz="900" dirty="0">
                <a:solidFill>
                  <a:srgbClr val="A61BE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로그인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A6B0A8C-D882-D567-40C1-563640C6DCFA}"/>
              </a:ext>
            </a:extLst>
          </p:cNvPr>
          <p:cNvSpPr/>
          <p:nvPr/>
        </p:nvSpPr>
        <p:spPr>
          <a:xfrm>
            <a:off x="6483668" y="2105025"/>
            <a:ext cx="3095625" cy="2647950"/>
          </a:xfrm>
          <a:prstGeom prst="roundRect">
            <a:avLst>
              <a:gd name="adj" fmla="val 367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7FF01B-4B6A-2C56-E644-D50D2B4ACE14}"/>
              </a:ext>
            </a:extLst>
          </p:cNvPr>
          <p:cNvSpPr txBox="1"/>
          <p:nvPr/>
        </p:nvSpPr>
        <p:spPr>
          <a:xfrm>
            <a:off x="6483667" y="2213151"/>
            <a:ext cx="3095626" cy="4001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solidFill>
                  <a:srgbClr val="A61BE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MindStock</a:t>
            </a:r>
            <a:endParaRPr lang="ko-KR" altLang="en-US" sz="2000" dirty="0">
              <a:solidFill>
                <a:srgbClr val="A61BE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B417CC8-0AFD-DE8C-3F59-A6FA062DB504}"/>
              </a:ext>
            </a:extLst>
          </p:cNvPr>
          <p:cNvSpPr/>
          <p:nvPr/>
        </p:nvSpPr>
        <p:spPr>
          <a:xfrm>
            <a:off x="6725377" y="2804282"/>
            <a:ext cx="2620185" cy="353593"/>
          </a:xfrm>
          <a:prstGeom prst="roundRect">
            <a:avLst>
              <a:gd name="adj" fmla="val 16845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Han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9C6F847-254F-D833-4CCE-1C52F70E9E9B}"/>
              </a:ext>
            </a:extLst>
          </p:cNvPr>
          <p:cNvSpPr/>
          <p:nvPr/>
        </p:nvSpPr>
        <p:spPr>
          <a:xfrm>
            <a:off x="6725377" y="3332602"/>
            <a:ext cx="2620185" cy="353593"/>
          </a:xfrm>
          <a:prstGeom prst="roundRect">
            <a:avLst>
              <a:gd name="adj" fmla="val 16845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…………</a:t>
            </a:r>
            <a:endParaRPr lang="ko-KR" altLang="en-US" sz="1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A02148F-E75F-2486-686E-9F2C63012BD1}"/>
              </a:ext>
            </a:extLst>
          </p:cNvPr>
          <p:cNvSpPr/>
          <p:nvPr/>
        </p:nvSpPr>
        <p:spPr>
          <a:xfrm>
            <a:off x="6725377" y="3854245"/>
            <a:ext cx="2620185" cy="353593"/>
          </a:xfrm>
          <a:prstGeom prst="roundRect">
            <a:avLst>
              <a:gd name="adj" fmla="val 16845"/>
            </a:avLst>
          </a:prstGeom>
          <a:gradFill>
            <a:gsLst>
              <a:gs pos="0">
                <a:srgbClr val="9913F9"/>
              </a:gs>
              <a:gs pos="56000">
                <a:srgbClr val="BD29BA"/>
              </a:gs>
              <a:gs pos="100000">
                <a:srgbClr val="E50077"/>
              </a:gs>
            </a:gsLst>
            <a:lin ang="0" scaled="0"/>
          </a:gra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회원가입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2B1F90-BE93-677F-9A16-518F752B1DC2}"/>
              </a:ext>
            </a:extLst>
          </p:cNvPr>
          <p:cNvSpPr txBox="1"/>
          <p:nvPr/>
        </p:nvSpPr>
        <p:spPr>
          <a:xfrm>
            <a:off x="7141210" y="4315910"/>
            <a:ext cx="178054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 </a:t>
            </a:r>
            <a:r>
              <a:rPr lang="ko-KR" altLang="en-US" sz="900" dirty="0" err="1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회원이신가요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 </a:t>
            </a:r>
            <a:r>
              <a:rPr lang="ko-KR" altLang="en-US" sz="900" dirty="0">
                <a:solidFill>
                  <a:srgbClr val="A61BE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로그인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6472DF-ED9A-2A0A-E539-0215361DA655}"/>
              </a:ext>
            </a:extLst>
          </p:cNvPr>
          <p:cNvSpPr txBox="1"/>
          <p:nvPr/>
        </p:nvSpPr>
        <p:spPr>
          <a:xfrm>
            <a:off x="7141210" y="2525896"/>
            <a:ext cx="178054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F6004C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이미 사용중인 닉네임입니다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3E91C-A512-5445-59E0-4FE22F475862}"/>
              </a:ext>
            </a:extLst>
          </p:cNvPr>
          <p:cNvSpPr txBox="1"/>
          <p:nvPr/>
        </p:nvSpPr>
        <p:spPr>
          <a:xfrm>
            <a:off x="1" y="593467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400" dirty="0">
                <a:solidFill>
                  <a:srgbClr val="05CD9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4234165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31CBA44-38BC-B704-C821-26914BE76A09}"/>
              </a:ext>
            </a:extLst>
          </p:cNvPr>
          <p:cNvSpPr/>
          <p:nvPr/>
        </p:nvSpPr>
        <p:spPr>
          <a:xfrm>
            <a:off x="4426222" y="0"/>
            <a:ext cx="3337559" cy="6858000"/>
          </a:xfrm>
          <a:prstGeom prst="rect">
            <a:avLst/>
          </a:prstGeom>
          <a:solidFill>
            <a:srgbClr val="F7F7F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27DAED-730D-65FD-6048-039FE4E370F8}"/>
              </a:ext>
            </a:extLst>
          </p:cNvPr>
          <p:cNvSpPr/>
          <p:nvPr/>
        </p:nvSpPr>
        <p:spPr>
          <a:xfrm>
            <a:off x="4429111" y="0"/>
            <a:ext cx="3337559" cy="474077"/>
          </a:xfrm>
          <a:prstGeom prst="rect">
            <a:avLst/>
          </a:prstGeom>
          <a:solidFill>
            <a:srgbClr val="155DFC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CBA098-2D5B-D2CE-3856-57C0FE86BFEC}"/>
              </a:ext>
            </a:extLst>
          </p:cNvPr>
          <p:cNvSpPr txBox="1"/>
          <p:nvPr/>
        </p:nvSpPr>
        <p:spPr>
          <a:xfrm>
            <a:off x="4498265" y="83201"/>
            <a:ext cx="213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MindStock</a:t>
            </a:r>
            <a:endParaRPr lang="ko-KR" altLang="en-US" sz="14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0D5AE115-55E2-2F63-F7B9-77628885C7FE}"/>
              </a:ext>
            </a:extLst>
          </p:cNvPr>
          <p:cNvGrpSpPr/>
          <p:nvPr/>
        </p:nvGrpSpPr>
        <p:grpSpPr>
          <a:xfrm>
            <a:off x="6960287" y="154579"/>
            <a:ext cx="124189" cy="166868"/>
            <a:chOff x="6971862" y="154579"/>
            <a:chExt cx="124189" cy="166868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FB4D0CA-0529-A440-458F-883889B1361D}"/>
                </a:ext>
              </a:extLst>
            </p:cNvPr>
            <p:cNvSpPr/>
            <p:nvPr/>
          </p:nvSpPr>
          <p:spPr>
            <a:xfrm>
              <a:off x="6979043" y="154579"/>
              <a:ext cx="109827" cy="10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이등변 삼각형 36">
              <a:extLst>
                <a:ext uri="{FF2B5EF4-FFF2-40B4-BE49-F238E27FC236}">
                  <a16:creationId xmlns:a16="http://schemas.microsoft.com/office/drawing/2014/main" id="{A76DBB11-EB30-05E4-5290-34AD2B322C8E}"/>
                </a:ext>
              </a:extLst>
            </p:cNvPr>
            <p:cNvSpPr/>
            <p:nvPr/>
          </p:nvSpPr>
          <p:spPr>
            <a:xfrm>
              <a:off x="6971862" y="207366"/>
              <a:ext cx="124189" cy="11408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509511C-4385-010F-5D58-D687031177DD}"/>
              </a:ext>
            </a:extLst>
          </p:cNvPr>
          <p:cNvSpPr txBox="1"/>
          <p:nvPr/>
        </p:nvSpPr>
        <p:spPr>
          <a:xfrm>
            <a:off x="7087365" y="93230"/>
            <a:ext cx="620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</a:t>
            </a:r>
            <a:r>
              <a:rPr lang="ko-KR" altLang="en-US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4B6C4FC-E4D6-9161-C650-0E39D98F8B0A}"/>
              </a:ext>
            </a:extLst>
          </p:cNvPr>
          <p:cNvSpPr/>
          <p:nvPr/>
        </p:nvSpPr>
        <p:spPr>
          <a:xfrm>
            <a:off x="4501154" y="565284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C9BF54-7ED3-ED6D-AB42-796C38CB7A62}"/>
              </a:ext>
            </a:extLst>
          </p:cNvPr>
          <p:cNvSpPr txBox="1"/>
          <p:nvPr/>
        </p:nvSpPr>
        <p:spPr>
          <a:xfrm>
            <a:off x="4545026" y="793001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123,456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7B0AD1-A723-E642-3ECD-DA98E2FA3ACF}"/>
              </a:ext>
            </a:extLst>
          </p:cNvPr>
          <p:cNvSpPr txBox="1"/>
          <p:nvPr/>
        </p:nvSpPr>
        <p:spPr>
          <a:xfrm>
            <a:off x="4498265" y="608911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보유 현금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24E3B2D0-0995-785E-EF27-554A7CA7B3A8}"/>
              </a:ext>
            </a:extLst>
          </p:cNvPr>
          <p:cNvSpPr/>
          <p:nvPr/>
        </p:nvSpPr>
        <p:spPr>
          <a:xfrm>
            <a:off x="6144800" y="565284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30EF10D-E795-F481-C41D-28A214C7482C}"/>
              </a:ext>
            </a:extLst>
          </p:cNvPr>
          <p:cNvSpPr txBox="1"/>
          <p:nvPr/>
        </p:nvSpPr>
        <p:spPr>
          <a:xfrm>
            <a:off x="6188672" y="793001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8,224,506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BC6CF9B-2848-A4A5-88B1-F9E0CDCE1E63}"/>
              </a:ext>
            </a:extLst>
          </p:cNvPr>
          <p:cNvSpPr txBox="1"/>
          <p:nvPr/>
        </p:nvSpPr>
        <p:spPr>
          <a:xfrm>
            <a:off x="6141911" y="608911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자산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E1F2526D-8EE7-90C5-DDD7-57A21E6DBDCE}"/>
              </a:ext>
            </a:extLst>
          </p:cNvPr>
          <p:cNvSpPr/>
          <p:nvPr/>
        </p:nvSpPr>
        <p:spPr>
          <a:xfrm>
            <a:off x="4501154" y="1185217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9E256A4-06B5-B779-77F9-9D9F91E545A3}"/>
              </a:ext>
            </a:extLst>
          </p:cNvPr>
          <p:cNvSpPr txBox="1"/>
          <p:nvPr/>
        </p:nvSpPr>
        <p:spPr>
          <a:xfrm>
            <a:off x="4545026" y="1412934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-12,733,884</a:t>
            </a:r>
            <a:r>
              <a:rPr lang="ko-KR" altLang="en-US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D59BB4C-50A5-DAA8-C951-A1E50A795957}"/>
              </a:ext>
            </a:extLst>
          </p:cNvPr>
          <p:cNvSpPr txBox="1"/>
          <p:nvPr/>
        </p:nvSpPr>
        <p:spPr>
          <a:xfrm>
            <a:off x="4498265" y="1228844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평가 손익</a:t>
            </a: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98F8EF26-49D3-6B14-C86A-5896C87AB4ED}"/>
              </a:ext>
            </a:extLst>
          </p:cNvPr>
          <p:cNvSpPr/>
          <p:nvPr/>
        </p:nvSpPr>
        <p:spPr>
          <a:xfrm>
            <a:off x="6144800" y="1185217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6E4C7C9-71EA-01CB-90FC-24288F6E9D27}"/>
              </a:ext>
            </a:extLst>
          </p:cNvPr>
          <p:cNvSpPr txBox="1"/>
          <p:nvPr/>
        </p:nvSpPr>
        <p:spPr>
          <a:xfrm>
            <a:off x="6188672" y="1412934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-34.38%</a:t>
            </a:r>
            <a:endParaRPr lang="ko-KR" altLang="en-US" sz="14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06E31C8-9C00-0AD1-BC29-BB5CDF3F5A78}"/>
              </a:ext>
            </a:extLst>
          </p:cNvPr>
          <p:cNvSpPr txBox="1"/>
          <p:nvPr/>
        </p:nvSpPr>
        <p:spPr>
          <a:xfrm>
            <a:off x="6141911" y="1228844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AED89AB2-C13F-6959-C8C0-17D63ED9354F}"/>
              </a:ext>
            </a:extLst>
          </p:cNvPr>
          <p:cNvSpPr/>
          <p:nvPr/>
        </p:nvSpPr>
        <p:spPr>
          <a:xfrm>
            <a:off x="4498265" y="1805150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0E245AA-ADB6-B47E-CAED-EC876AD1AB48}"/>
              </a:ext>
            </a:extLst>
          </p:cNvPr>
          <p:cNvSpPr txBox="1"/>
          <p:nvPr/>
        </p:nvSpPr>
        <p:spPr>
          <a:xfrm>
            <a:off x="4545026" y="1843065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공포 탐욕 지수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2E50556-1E1D-5242-31A8-80AA3312CAFF}"/>
              </a:ext>
            </a:extLst>
          </p:cNvPr>
          <p:cNvSpPr txBox="1"/>
          <p:nvPr/>
        </p:nvSpPr>
        <p:spPr>
          <a:xfrm>
            <a:off x="4545026" y="2024667"/>
            <a:ext cx="1549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중립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FF03965D-0111-6805-FD4C-1340DE5AAA10}"/>
              </a:ext>
            </a:extLst>
          </p:cNvPr>
          <p:cNvSpPr/>
          <p:nvPr/>
        </p:nvSpPr>
        <p:spPr>
          <a:xfrm>
            <a:off x="6408059" y="2030223"/>
            <a:ext cx="838624" cy="1055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B071710-C7CE-048F-1ACB-88E41E3EC131}"/>
              </a:ext>
            </a:extLst>
          </p:cNvPr>
          <p:cNvSpPr/>
          <p:nvPr/>
        </p:nvSpPr>
        <p:spPr>
          <a:xfrm>
            <a:off x="6409938" y="2030223"/>
            <a:ext cx="436994" cy="10553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FFF5160-4E5F-1F04-1D8A-FFF4C1F2238E}"/>
              </a:ext>
            </a:extLst>
          </p:cNvPr>
          <p:cNvSpPr txBox="1"/>
          <p:nvPr/>
        </p:nvSpPr>
        <p:spPr>
          <a:xfrm>
            <a:off x="7247453" y="1976115"/>
            <a:ext cx="4442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47.4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7C1A65E8-195F-BDF6-787E-128802910044}"/>
              </a:ext>
            </a:extLst>
          </p:cNvPr>
          <p:cNvSpPr/>
          <p:nvPr/>
        </p:nvSpPr>
        <p:spPr>
          <a:xfrm>
            <a:off x="4498265" y="2710543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28575">
            <a:gradFill>
              <a:gsLst>
                <a:gs pos="0">
                  <a:srgbClr val="13FFC7"/>
                </a:gs>
                <a:gs pos="100000">
                  <a:srgbClr val="00A47D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669C28D-AFE2-88A4-9B6F-E5538316D885}"/>
              </a:ext>
            </a:extLst>
          </p:cNvPr>
          <p:cNvSpPr txBox="1"/>
          <p:nvPr/>
        </p:nvSpPr>
        <p:spPr>
          <a:xfrm>
            <a:off x="6118383" y="2782573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8,101,050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F11790D-964F-B706-4565-7062A667A1FB}"/>
              </a:ext>
            </a:extLst>
          </p:cNvPr>
          <p:cNvSpPr txBox="1"/>
          <p:nvPr/>
        </p:nvSpPr>
        <p:spPr>
          <a:xfrm>
            <a:off x="6118383" y="2978754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00D27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▲ </a:t>
            </a:r>
            <a:r>
              <a:rPr lang="en-US" altLang="ko-KR" sz="800" dirty="0">
                <a:solidFill>
                  <a:srgbClr val="00D27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8.10%</a:t>
            </a:r>
            <a:endParaRPr lang="ko-KR" altLang="en-US" sz="800" dirty="0">
              <a:solidFill>
                <a:srgbClr val="00D27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1EFB6F9-C945-7DA9-5BF6-1A3A0BA6EDD2}"/>
              </a:ext>
            </a:extLst>
          </p:cNvPr>
          <p:cNvSpPr txBox="1"/>
          <p:nvPr/>
        </p:nvSpPr>
        <p:spPr>
          <a:xfrm>
            <a:off x="4545026" y="2794245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E5007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⚠️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천마전자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1B33021-38C6-5DDD-1803-AE795228F441}"/>
              </a:ext>
            </a:extLst>
          </p:cNvPr>
          <p:cNvSpPr txBox="1"/>
          <p:nvPr/>
        </p:nvSpPr>
        <p:spPr>
          <a:xfrm>
            <a:off x="4545026" y="2980809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CME · IT</a:t>
            </a:r>
            <a:endParaRPr lang="ko-KR" altLang="en-US" sz="700" dirty="0">
              <a:solidFill>
                <a:schemeClr val="bg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FB11CF45-BBA1-1921-BABC-30A2CE3FEB55}"/>
              </a:ext>
            </a:extLst>
          </p:cNvPr>
          <p:cNvSpPr/>
          <p:nvPr/>
        </p:nvSpPr>
        <p:spPr>
          <a:xfrm>
            <a:off x="4498265" y="3326243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98CEB18-2961-A47B-43A4-89AE31C58A9E}"/>
              </a:ext>
            </a:extLst>
          </p:cNvPr>
          <p:cNvSpPr txBox="1"/>
          <p:nvPr/>
        </p:nvSpPr>
        <p:spPr>
          <a:xfrm>
            <a:off x="6118383" y="3398273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1,050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24CE440-1421-B40F-4ACD-358639106C78}"/>
              </a:ext>
            </a:extLst>
          </p:cNvPr>
          <p:cNvSpPr txBox="1"/>
          <p:nvPr/>
        </p:nvSpPr>
        <p:spPr>
          <a:xfrm>
            <a:off x="6118383" y="3594454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 </a:t>
            </a:r>
            <a:r>
              <a:rPr lang="en-US" altLang="ko-KR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1.20%</a:t>
            </a:r>
            <a:endParaRPr lang="ko-KR" altLang="en-US" sz="8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62DBE55-A8E8-BC8C-CC9B-0C95F7550374}"/>
              </a:ext>
            </a:extLst>
          </p:cNvPr>
          <p:cNvSpPr txBox="1"/>
          <p:nvPr/>
        </p:nvSpPr>
        <p:spPr>
          <a:xfrm>
            <a:off x="4545026" y="3409945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영남상회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276F0C8-7ABD-48ED-B5EB-3E9EB0B821CE}"/>
              </a:ext>
            </a:extLst>
          </p:cNvPr>
          <p:cNvSpPr txBox="1"/>
          <p:nvPr/>
        </p:nvSpPr>
        <p:spPr>
          <a:xfrm>
            <a:off x="4545026" y="3596509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YNH · 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유통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0FC6A3B-C594-4399-A0EF-9C876FE0E84F}"/>
              </a:ext>
            </a:extLst>
          </p:cNvPr>
          <p:cNvSpPr/>
          <p:nvPr/>
        </p:nvSpPr>
        <p:spPr>
          <a:xfrm>
            <a:off x="4498265" y="3961247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07E60-464F-92EC-7CC8-17D012E93D6E}"/>
              </a:ext>
            </a:extLst>
          </p:cNvPr>
          <p:cNvSpPr txBox="1"/>
          <p:nvPr/>
        </p:nvSpPr>
        <p:spPr>
          <a:xfrm>
            <a:off x="6118383" y="4033277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2,006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BF906-78F9-623F-703D-ACD3064DB157}"/>
              </a:ext>
            </a:extLst>
          </p:cNvPr>
          <p:cNvSpPr txBox="1"/>
          <p:nvPr/>
        </p:nvSpPr>
        <p:spPr>
          <a:xfrm>
            <a:off x="6118383" y="4229458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 </a:t>
            </a:r>
            <a:r>
              <a:rPr lang="en-US" altLang="ko-KR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2.02%</a:t>
            </a:r>
            <a:endParaRPr lang="ko-KR" altLang="en-US" sz="8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0D3B3-62DB-C0B2-733C-18E1859F767C}"/>
              </a:ext>
            </a:extLst>
          </p:cNvPr>
          <p:cNvSpPr txBox="1"/>
          <p:nvPr/>
        </p:nvSpPr>
        <p:spPr>
          <a:xfrm>
            <a:off x="4545026" y="4044949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홍만건설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D535B-BF1F-77EA-CBBB-7D7ED2098CD8}"/>
              </a:ext>
            </a:extLst>
          </p:cNvPr>
          <p:cNvSpPr txBox="1"/>
          <p:nvPr/>
        </p:nvSpPr>
        <p:spPr>
          <a:xfrm>
            <a:off x="4545026" y="4231513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HMS · 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1B4CA39-BAF9-0531-E856-4FAFDBB9F050}"/>
              </a:ext>
            </a:extLst>
          </p:cNvPr>
          <p:cNvSpPr/>
          <p:nvPr/>
        </p:nvSpPr>
        <p:spPr>
          <a:xfrm>
            <a:off x="4498265" y="4604548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C524F9-40EB-8E29-13C2-9477CA0DEF00}"/>
              </a:ext>
            </a:extLst>
          </p:cNvPr>
          <p:cNvSpPr txBox="1"/>
          <p:nvPr/>
        </p:nvSpPr>
        <p:spPr>
          <a:xfrm>
            <a:off x="6118383" y="4676578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1,234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9ADB9-D4D1-2252-5999-B2EBD7E7D05A}"/>
              </a:ext>
            </a:extLst>
          </p:cNvPr>
          <p:cNvSpPr txBox="1"/>
          <p:nvPr/>
        </p:nvSpPr>
        <p:spPr>
          <a:xfrm>
            <a:off x="6118383" y="4872759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00D27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▲ </a:t>
            </a:r>
            <a:r>
              <a:rPr lang="en-US" altLang="ko-KR" sz="800" dirty="0">
                <a:solidFill>
                  <a:srgbClr val="00D27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1.23%</a:t>
            </a:r>
            <a:endParaRPr lang="ko-KR" altLang="en-US" sz="800" dirty="0">
              <a:solidFill>
                <a:srgbClr val="00D27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6AE48F-4113-DEEA-CF7C-93B9C4D88208}"/>
              </a:ext>
            </a:extLst>
          </p:cNvPr>
          <p:cNvSpPr txBox="1"/>
          <p:nvPr/>
        </p:nvSpPr>
        <p:spPr>
          <a:xfrm>
            <a:off x="4545026" y="4688250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오픈소스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DE0446-1E74-0B0E-478E-0EF7DC1D17DE}"/>
              </a:ext>
            </a:extLst>
          </p:cNvPr>
          <p:cNvSpPr txBox="1"/>
          <p:nvPr/>
        </p:nvSpPr>
        <p:spPr>
          <a:xfrm>
            <a:off x="4545026" y="4874814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OPS · IT</a:t>
            </a:r>
            <a:endParaRPr lang="ko-KR" altLang="en-US" sz="700" dirty="0">
              <a:solidFill>
                <a:schemeClr val="bg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AA8D51B-E6A2-39FB-3B43-A9FFC40B6FEF}"/>
              </a:ext>
            </a:extLst>
          </p:cNvPr>
          <p:cNvSpPr/>
          <p:nvPr/>
        </p:nvSpPr>
        <p:spPr>
          <a:xfrm>
            <a:off x="4498265" y="5242058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28575">
            <a:gradFill>
              <a:gsLst>
                <a:gs pos="0">
                  <a:srgbClr val="E50077"/>
                </a:gs>
                <a:gs pos="100000">
                  <a:srgbClr val="A8005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86765A-82D6-EF49-99A8-75D8B5C06725}"/>
              </a:ext>
            </a:extLst>
          </p:cNvPr>
          <p:cNvSpPr txBox="1"/>
          <p:nvPr/>
        </p:nvSpPr>
        <p:spPr>
          <a:xfrm>
            <a:off x="6118383" y="5314088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12,345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B66353-E5D5-6D37-7D3A-6CBD23043FAD}"/>
              </a:ext>
            </a:extLst>
          </p:cNvPr>
          <p:cNvSpPr txBox="1"/>
          <p:nvPr/>
        </p:nvSpPr>
        <p:spPr>
          <a:xfrm>
            <a:off x="6118383" y="5510269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 </a:t>
            </a:r>
            <a:r>
              <a:rPr lang="en-US" altLang="ko-KR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12.34%</a:t>
            </a:r>
            <a:endParaRPr lang="ko-KR" altLang="en-US" sz="8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410463-E9B9-51E2-374B-763A1E8BBC4D}"/>
              </a:ext>
            </a:extLst>
          </p:cNvPr>
          <p:cNvSpPr txBox="1"/>
          <p:nvPr/>
        </p:nvSpPr>
        <p:spPr>
          <a:xfrm>
            <a:off x="4545026" y="5325760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E5007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⚠️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11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보리푸드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A9CBFE-2CD2-6245-FF85-A1E755310E41}"/>
              </a:ext>
            </a:extLst>
          </p:cNvPr>
          <p:cNvSpPr txBox="1"/>
          <p:nvPr/>
        </p:nvSpPr>
        <p:spPr>
          <a:xfrm>
            <a:off x="4545026" y="5512324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BRF · 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식품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2ED648B-F14C-A429-0E01-75017D072132}"/>
              </a:ext>
            </a:extLst>
          </p:cNvPr>
          <p:cNvSpPr/>
          <p:nvPr/>
        </p:nvSpPr>
        <p:spPr>
          <a:xfrm>
            <a:off x="4498265" y="5883471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F58D04-9DE4-9528-7948-2C9C5A5754C9}"/>
              </a:ext>
            </a:extLst>
          </p:cNvPr>
          <p:cNvSpPr txBox="1"/>
          <p:nvPr/>
        </p:nvSpPr>
        <p:spPr>
          <a:xfrm>
            <a:off x="6118383" y="5955501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1,234,567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1452BE-B6D4-2267-BC2F-42822113A3AB}"/>
              </a:ext>
            </a:extLst>
          </p:cNvPr>
          <p:cNvSpPr txBox="1"/>
          <p:nvPr/>
        </p:nvSpPr>
        <p:spPr>
          <a:xfrm>
            <a:off x="6118383" y="6151682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 </a:t>
            </a:r>
            <a:r>
              <a:rPr lang="en-US" altLang="ko-KR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12.34%</a:t>
            </a:r>
            <a:endParaRPr lang="ko-KR" altLang="en-US" sz="8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70CB1F-D868-771E-51E8-360D71C36847}"/>
              </a:ext>
            </a:extLst>
          </p:cNvPr>
          <p:cNvSpPr txBox="1"/>
          <p:nvPr/>
        </p:nvSpPr>
        <p:spPr>
          <a:xfrm>
            <a:off x="4545026" y="5967173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철수뱅크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7CD6BA-AF40-1383-061F-57A588A12BB8}"/>
              </a:ext>
            </a:extLst>
          </p:cNvPr>
          <p:cNvSpPr txBox="1"/>
          <p:nvPr/>
        </p:nvSpPr>
        <p:spPr>
          <a:xfrm>
            <a:off x="4545026" y="6153737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CHB · 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금융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05845B-76DA-B915-E7B6-67397D7C088E}"/>
              </a:ext>
            </a:extLst>
          </p:cNvPr>
          <p:cNvSpPr/>
          <p:nvPr/>
        </p:nvSpPr>
        <p:spPr>
          <a:xfrm>
            <a:off x="4429111" y="6248400"/>
            <a:ext cx="3337559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EE27D3-13BC-E41C-FC06-FE3B4E2AD117}"/>
              </a:ext>
            </a:extLst>
          </p:cNvPr>
          <p:cNvSpPr txBox="1"/>
          <p:nvPr/>
        </p:nvSpPr>
        <p:spPr>
          <a:xfrm>
            <a:off x="5787721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595BF8-ED82-1F9F-42C4-87F14E906B84}"/>
              </a:ext>
            </a:extLst>
          </p:cNvPr>
          <p:cNvSpPr txBox="1"/>
          <p:nvPr/>
        </p:nvSpPr>
        <p:spPr>
          <a:xfrm>
            <a:off x="4429110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C9A17C-72EF-A198-F878-8DC53C7C57FC}"/>
              </a:ext>
            </a:extLst>
          </p:cNvPr>
          <p:cNvSpPr txBox="1"/>
          <p:nvPr/>
        </p:nvSpPr>
        <p:spPr>
          <a:xfrm>
            <a:off x="5108415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뉴스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C0BFE4-7332-811B-AD11-98CFEA15516F}"/>
              </a:ext>
            </a:extLst>
          </p:cNvPr>
          <p:cNvSpPr txBox="1"/>
          <p:nvPr/>
        </p:nvSpPr>
        <p:spPr>
          <a:xfrm>
            <a:off x="6467027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성향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461586-B05B-6DF9-5CC4-21536E764F6E}"/>
              </a:ext>
            </a:extLst>
          </p:cNvPr>
          <p:cNvSpPr txBox="1"/>
          <p:nvPr/>
        </p:nvSpPr>
        <p:spPr>
          <a:xfrm>
            <a:off x="7146332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랭킹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56E41CC-61CE-5377-AAD4-AEE7BFC2A3D5}"/>
              </a:ext>
            </a:extLst>
          </p:cNvPr>
          <p:cNvSpPr/>
          <p:nvPr/>
        </p:nvSpPr>
        <p:spPr>
          <a:xfrm>
            <a:off x="4653620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E97468F-D340-04CE-BCA0-79307E6D4558}"/>
              </a:ext>
            </a:extLst>
          </p:cNvPr>
          <p:cNvSpPr/>
          <p:nvPr/>
        </p:nvSpPr>
        <p:spPr>
          <a:xfrm>
            <a:off x="5332925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9B7B6C6-1A4B-7CF1-44BE-0210A13D6B9E}"/>
              </a:ext>
            </a:extLst>
          </p:cNvPr>
          <p:cNvSpPr/>
          <p:nvPr/>
        </p:nvSpPr>
        <p:spPr>
          <a:xfrm>
            <a:off x="6009344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5FFD478-EABF-03F7-C84B-31F40EA1FF82}"/>
              </a:ext>
            </a:extLst>
          </p:cNvPr>
          <p:cNvSpPr/>
          <p:nvPr/>
        </p:nvSpPr>
        <p:spPr>
          <a:xfrm>
            <a:off x="6685763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3852DEF-9D45-615E-DDA7-1D42422D6F8B}"/>
              </a:ext>
            </a:extLst>
          </p:cNvPr>
          <p:cNvSpPr/>
          <p:nvPr/>
        </p:nvSpPr>
        <p:spPr>
          <a:xfrm>
            <a:off x="7370842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22406-12F1-B0E2-D15A-8F776669A01C}"/>
              </a:ext>
            </a:extLst>
          </p:cNvPr>
          <p:cNvSpPr txBox="1"/>
          <p:nvPr/>
        </p:nvSpPr>
        <p:spPr>
          <a:xfrm>
            <a:off x="7945915" y="5934670"/>
            <a:ext cx="424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400" dirty="0">
                <a:solidFill>
                  <a:srgbClr val="05CD9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거래소</a:t>
            </a:r>
          </a:p>
        </p:txBody>
      </p:sp>
    </p:spTree>
    <p:extLst>
      <p:ext uri="{BB962C8B-B14F-4D97-AF65-F5344CB8AC3E}">
        <p14:creationId xmlns:p14="http://schemas.microsoft.com/office/powerpoint/2010/main" val="3517436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2115-AB46-D46E-DE88-6BD6AEA9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82B7C23-FA7E-BC60-7EE2-FD28CAD248BC}"/>
              </a:ext>
            </a:extLst>
          </p:cNvPr>
          <p:cNvSpPr/>
          <p:nvPr/>
        </p:nvSpPr>
        <p:spPr>
          <a:xfrm>
            <a:off x="4425094" y="0"/>
            <a:ext cx="3337559" cy="6858000"/>
          </a:xfrm>
          <a:prstGeom prst="rect">
            <a:avLst/>
          </a:prstGeom>
          <a:solidFill>
            <a:srgbClr val="F7F7F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8CB8A9-BBFE-FCC1-3068-40A95C947563}"/>
              </a:ext>
            </a:extLst>
          </p:cNvPr>
          <p:cNvSpPr/>
          <p:nvPr/>
        </p:nvSpPr>
        <p:spPr>
          <a:xfrm>
            <a:off x="4427983" y="0"/>
            <a:ext cx="3337559" cy="474077"/>
          </a:xfrm>
          <a:prstGeom prst="rect">
            <a:avLst/>
          </a:prstGeom>
          <a:solidFill>
            <a:srgbClr val="155DFC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E8F77D-F105-2118-885A-65E757E3B23F}"/>
              </a:ext>
            </a:extLst>
          </p:cNvPr>
          <p:cNvSpPr txBox="1"/>
          <p:nvPr/>
        </p:nvSpPr>
        <p:spPr>
          <a:xfrm>
            <a:off x="4497137" y="83201"/>
            <a:ext cx="213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MindStock</a:t>
            </a:r>
            <a:endParaRPr lang="ko-KR" altLang="en-US" sz="14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D9018705-8886-7990-7D80-A1E440083ED3}"/>
              </a:ext>
            </a:extLst>
          </p:cNvPr>
          <p:cNvGrpSpPr/>
          <p:nvPr/>
        </p:nvGrpSpPr>
        <p:grpSpPr>
          <a:xfrm>
            <a:off x="6959159" y="154579"/>
            <a:ext cx="124189" cy="166868"/>
            <a:chOff x="6970734" y="154579"/>
            <a:chExt cx="124189" cy="16686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32656EB5-F35D-10B3-69AA-A7E04BEC9256}"/>
                </a:ext>
              </a:extLst>
            </p:cNvPr>
            <p:cNvSpPr/>
            <p:nvPr/>
          </p:nvSpPr>
          <p:spPr>
            <a:xfrm>
              <a:off x="6977915" y="154579"/>
              <a:ext cx="109827" cy="1098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0080A6A0-17AE-783C-9915-971827EF894D}"/>
                </a:ext>
              </a:extLst>
            </p:cNvPr>
            <p:cNvSpPr/>
            <p:nvPr/>
          </p:nvSpPr>
          <p:spPr>
            <a:xfrm>
              <a:off x="6970734" y="207366"/>
              <a:ext cx="124189" cy="11408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4AA04AD-A4CD-DAED-4C1A-30A1960E1F26}"/>
              </a:ext>
            </a:extLst>
          </p:cNvPr>
          <p:cNvSpPr txBox="1"/>
          <p:nvPr/>
        </p:nvSpPr>
        <p:spPr>
          <a:xfrm>
            <a:off x="7086237" y="93230"/>
            <a:ext cx="620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</a:t>
            </a:r>
            <a:r>
              <a:rPr lang="ko-KR" altLang="en-US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F23BBEA-78F0-1DBB-D65D-4BEFDE61305E}"/>
              </a:ext>
            </a:extLst>
          </p:cNvPr>
          <p:cNvSpPr/>
          <p:nvPr/>
        </p:nvSpPr>
        <p:spPr>
          <a:xfrm>
            <a:off x="4500026" y="565284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D5D2D6-0D91-32BF-581F-7014F9C47F14}"/>
              </a:ext>
            </a:extLst>
          </p:cNvPr>
          <p:cNvSpPr txBox="1"/>
          <p:nvPr/>
        </p:nvSpPr>
        <p:spPr>
          <a:xfrm>
            <a:off x="4543898" y="793001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123,456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5F27A5-0C2F-B770-F4F6-ADCBFAC22731}"/>
              </a:ext>
            </a:extLst>
          </p:cNvPr>
          <p:cNvSpPr txBox="1"/>
          <p:nvPr/>
        </p:nvSpPr>
        <p:spPr>
          <a:xfrm>
            <a:off x="4497137" y="608911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보유 현금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9805B97-8B4C-B6AE-6CF6-1EE47E332024}"/>
              </a:ext>
            </a:extLst>
          </p:cNvPr>
          <p:cNvSpPr/>
          <p:nvPr/>
        </p:nvSpPr>
        <p:spPr>
          <a:xfrm>
            <a:off x="6143672" y="565284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286531-FC4F-175D-F7CC-5E2BA269ED25}"/>
              </a:ext>
            </a:extLst>
          </p:cNvPr>
          <p:cNvSpPr txBox="1"/>
          <p:nvPr/>
        </p:nvSpPr>
        <p:spPr>
          <a:xfrm>
            <a:off x="6187544" y="793001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8,224,506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307AC6-2E52-3570-D099-1509F2E7A551}"/>
              </a:ext>
            </a:extLst>
          </p:cNvPr>
          <p:cNvSpPr txBox="1"/>
          <p:nvPr/>
        </p:nvSpPr>
        <p:spPr>
          <a:xfrm>
            <a:off x="6140783" y="608911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자산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6891295-858C-AE92-C7D3-D81A05150790}"/>
              </a:ext>
            </a:extLst>
          </p:cNvPr>
          <p:cNvSpPr/>
          <p:nvPr/>
        </p:nvSpPr>
        <p:spPr>
          <a:xfrm>
            <a:off x="4500026" y="1185217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B89ACB-C3E1-BB21-483A-231D329427DD}"/>
              </a:ext>
            </a:extLst>
          </p:cNvPr>
          <p:cNvSpPr txBox="1"/>
          <p:nvPr/>
        </p:nvSpPr>
        <p:spPr>
          <a:xfrm>
            <a:off x="4543898" y="1412934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-12,733,884</a:t>
            </a:r>
            <a:r>
              <a:rPr lang="ko-KR" altLang="en-US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777721-1EA6-E5E5-B640-AFEAE98C2DD0}"/>
              </a:ext>
            </a:extLst>
          </p:cNvPr>
          <p:cNvSpPr txBox="1"/>
          <p:nvPr/>
        </p:nvSpPr>
        <p:spPr>
          <a:xfrm>
            <a:off x="4497137" y="1228844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평가 손익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8B93099-C452-E52B-E467-18DC688BC8E9}"/>
              </a:ext>
            </a:extLst>
          </p:cNvPr>
          <p:cNvSpPr/>
          <p:nvPr/>
        </p:nvSpPr>
        <p:spPr>
          <a:xfrm>
            <a:off x="6143672" y="1185217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306DAD-525F-8A64-43D0-A38298171A49}"/>
              </a:ext>
            </a:extLst>
          </p:cNvPr>
          <p:cNvSpPr txBox="1"/>
          <p:nvPr/>
        </p:nvSpPr>
        <p:spPr>
          <a:xfrm>
            <a:off x="6187544" y="1412934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-34.38%</a:t>
            </a:r>
            <a:endParaRPr lang="ko-KR" altLang="en-US" sz="14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DECC08B-540F-DD8C-3C4C-28479FF8692E}"/>
              </a:ext>
            </a:extLst>
          </p:cNvPr>
          <p:cNvSpPr txBox="1"/>
          <p:nvPr/>
        </p:nvSpPr>
        <p:spPr>
          <a:xfrm>
            <a:off x="6140783" y="1228844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91FB2D34-5CB3-F198-AE14-675803C48576}"/>
              </a:ext>
            </a:extLst>
          </p:cNvPr>
          <p:cNvSpPr/>
          <p:nvPr/>
        </p:nvSpPr>
        <p:spPr>
          <a:xfrm>
            <a:off x="4497137" y="1805150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975B8B-3D3A-6FF9-0689-BED1BD1C5C7D}"/>
              </a:ext>
            </a:extLst>
          </p:cNvPr>
          <p:cNvSpPr txBox="1"/>
          <p:nvPr/>
        </p:nvSpPr>
        <p:spPr>
          <a:xfrm>
            <a:off x="4543898" y="1843065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공포 탐욕 지수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85353C-5714-AE85-2D33-EFB9F2E20923}"/>
              </a:ext>
            </a:extLst>
          </p:cNvPr>
          <p:cNvSpPr txBox="1"/>
          <p:nvPr/>
        </p:nvSpPr>
        <p:spPr>
          <a:xfrm>
            <a:off x="4543898" y="2024667"/>
            <a:ext cx="1549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중립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4EEC926-911B-C898-7B21-6D6901B3F698}"/>
              </a:ext>
            </a:extLst>
          </p:cNvPr>
          <p:cNvSpPr/>
          <p:nvPr/>
        </p:nvSpPr>
        <p:spPr>
          <a:xfrm>
            <a:off x="6406931" y="2030223"/>
            <a:ext cx="838624" cy="10553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07A237D4-40F7-3573-1F6F-7499515B61D4}"/>
              </a:ext>
            </a:extLst>
          </p:cNvPr>
          <p:cNvSpPr/>
          <p:nvPr/>
        </p:nvSpPr>
        <p:spPr>
          <a:xfrm>
            <a:off x="6408810" y="2030223"/>
            <a:ext cx="436994" cy="10553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214F7B-BD38-E2E9-054A-EAD4C63189AE}"/>
              </a:ext>
            </a:extLst>
          </p:cNvPr>
          <p:cNvSpPr txBox="1"/>
          <p:nvPr/>
        </p:nvSpPr>
        <p:spPr>
          <a:xfrm>
            <a:off x="7246325" y="1976115"/>
            <a:ext cx="4442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47.4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64D18A5A-977D-D72C-986B-DB17ED83CD24}"/>
              </a:ext>
            </a:extLst>
          </p:cNvPr>
          <p:cNvSpPr/>
          <p:nvPr/>
        </p:nvSpPr>
        <p:spPr>
          <a:xfrm>
            <a:off x="4497137" y="2710542"/>
            <a:ext cx="3193475" cy="2167183"/>
          </a:xfrm>
          <a:prstGeom prst="roundRect">
            <a:avLst>
              <a:gd name="adj" fmla="val 5609"/>
            </a:avLst>
          </a:prstGeom>
          <a:solidFill>
            <a:schemeClr val="bg1"/>
          </a:solidFill>
          <a:ln w="28575">
            <a:gradFill>
              <a:gsLst>
                <a:gs pos="0">
                  <a:srgbClr val="13FFC7"/>
                </a:gs>
                <a:gs pos="100000">
                  <a:srgbClr val="00A47D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488E24-C05B-0640-7708-53CA3F141C03}"/>
              </a:ext>
            </a:extLst>
          </p:cNvPr>
          <p:cNvSpPr txBox="1"/>
          <p:nvPr/>
        </p:nvSpPr>
        <p:spPr>
          <a:xfrm>
            <a:off x="6117255" y="2782573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8,101,050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A35290-4846-9022-8F32-9B10A7E04FEA}"/>
              </a:ext>
            </a:extLst>
          </p:cNvPr>
          <p:cNvSpPr txBox="1"/>
          <p:nvPr/>
        </p:nvSpPr>
        <p:spPr>
          <a:xfrm>
            <a:off x="6117255" y="2978754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00D27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▲ </a:t>
            </a:r>
            <a:r>
              <a:rPr lang="en-US" altLang="ko-KR" sz="800" dirty="0">
                <a:solidFill>
                  <a:srgbClr val="00D27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8.10%</a:t>
            </a:r>
            <a:endParaRPr lang="ko-KR" altLang="en-US" sz="800" dirty="0">
              <a:solidFill>
                <a:srgbClr val="00D27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7FCEB95-2958-C1F0-6402-8A86386E92A2}"/>
              </a:ext>
            </a:extLst>
          </p:cNvPr>
          <p:cNvSpPr txBox="1"/>
          <p:nvPr/>
        </p:nvSpPr>
        <p:spPr>
          <a:xfrm>
            <a:off x="4543898" y="2794245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E50077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⚠️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천마전자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E5D79B-ACF2-8B87-E98A-43F9DF356BBB}"/>
              </a:ext>
            </a:extLst>
          </p:cNvPr>
          <p:cNvSpPr txBox="1"/>
          <p:nvPr/>
        </p:nvSpPr>
        <p:spPr>
          <a:xfrm>
            <a:off x="4543898" y="2980809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CME · IT</a:t>
            </a:r>
            <a:endParaRPr lang="ko-KR" altLang="en-US" sz="700" dirty="0">
              <a:solidFill>
                <a:schemeClr val="bg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95B3C29C-9F95-02D3-A086-E896D52D21D6}"/>
              </a:ext>
            </a:extLst>
          </p:cNvPr>
          <p:cNvSpPr/>
          <p:nvPr/>
        </p:nvSpPr>
        <p:spPr>
          <a:xfrm>
            <a:off x="4427983" y="6248400"/>
            <a:ext cx="3337559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1DAE960-35C5-E1BF-2B7C-099D82222EE7}"/>
              </a:ext>
            </a:extLst>
          </p:cNvPr>
          <p:cNvSpPr txBox="1"/>
          <p:nvPr/>
        </p:nvSpPr>
        <p:spPr>
          <a:xfrm>
            <a:off x="5786593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5A015D8-A901-6061-668F-40BC28EF1F6E}"/>
              </a:ext>
            </a:extLst>
          </p:cNvPr>
          <p:cNvSpPr txBox="1"/>
          <p:nvPr/>
        </p:nvSpPr>
        <p:spPr>
          <a:xfrm>
            <a:off x="4427982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거래소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C2B8131-D0E4-6744-6712-642B184B71D2}"/>
              </a:ext>
            </a:extLst>
          </p:cNvPr>
          <p:cNvSpPr txBox="1"/>
          <p:nvPr/>
        </p:nvSpPr>
        <p:spPr>
          <a:xfrm>
            <a:off x="5107287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뉴스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402BB14-218E-FE1D-3BA1-AA1696CBE022}"/>
              </a:ext>
            </a:extLst>
          </p:cNvPr>
          <p:cNvSpPr txBox="1"/>
          <p:nvPr/>
        </p:nvSpPr>
        <p:spPr>
          <a:xfrm>
            <a:off x="6465899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성향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554AA7E-54DC-12DA-A213-7FBDDD6F8B71}"/>
              </a:ext>
            </a:extLst>
          </p:cNvPr>
          <p:cNvSpPr txBox="1"/>
          <p:nvPr/>
        </p:nvSpPr>
        <p:spPr>
          <a:xfrm>
            <a:off x="7145204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랭킹</a:t>
            </a:r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5BF035E0-A20A-77C5-AB9B-43F0467C82BF}"/>
              </a:ext>
            </a:extLst>
          </p:cNvPr>
          <p:cNvSpPr/>
          <p:nvPr/>
        </p:nvSpPr>
        <p:spPr>
          <a:xfrm>
            <a:off x="4652492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EA1964ED-8F27-B0D2-9F52-C24FF964E722}"/>
              </a:ext>
            </a:extLst>
          </p:cNvPr>
          <p:cNvSpPr/>
          <p:nvPr/>
        </p:nvSpPr>
        <p:spPr>
          <a:xfrm>
            <a:off x="5331797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2EBA7B9B-BB82-EB44-4D9F-9CE73083ED15}"/>
              </a:ext>
            </a:extLst>
          </p:cNvPr>
          <p:cNvSpPr/>
          <p:nvPr/>
        </p:nvSpPr>
        <p:spPr>
          <a:xfrm>
            <a:off x="6008216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B9709D96-3B34-57C2-020A-24C7E7CE0A82}"/>
              </a:ext>
            </a:extLst>
          </p:cNvPr>
          <p:cNvSpPr/>
          <p:nvPr/>
        </p:nvSpPr>
        <p:spPr>
          <a:xfrm>
            <a:off x="6684635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55F84675-37EF-945A-4025-8476ECBBFAF4}"/>
              </a:ext>
            </a:extLst>
          </p:cNvPr>
          <p:cNvSpPr/>
          <p:nvPr/>
        </p:nvSpPr>
        <p:spPr>
          <a:xfrm>
            <a:off x="7369714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39F9AE75-AF94-51B1-C08A-CB00BDE64B61}"/>
              </a:ext>
            </a:extLst>
          </p:cNvPr>
          <p:cNvCxnSpPr/>
          <p:nvPr/>
        </p:nvCxnSpPr>
        <p:spPr>
          <a:xfrm>
            <a:off x="4652492" y="3235749"/>
            <a:ext cx="2888539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F0866DB3-D0C2-0BC5-DDDB-2827EF8E403B}"/>
              </a:ext>
            </a:extLst>
          </p:cNvPr>
          <p:cNvSpPr/>
          <p:nvPr/>
        </p:nvSpPr>
        <p:spPr>
          <a:xfrm>
            <a:off x="4652492" y="3635707"/>
            <a:ext cx="625628" cy="246222"/>
          </a:xfrm>
          <a:prstGeom prst="roundRect">
            <a:avLst>
              <a:gd name="adj" fmla="val 16204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1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AC1E1517-3175-C38E-BD23-710D0F6C66B6}"/>
              </a:ext>
            </a:extLst>
          </p:cNvPr>
          <p:cNvSpPr txBox="1"/>
          <p:nvPr/>
        </p:nvSpPr>
        <p:spPr>
          <a:xfrm>
            <a:off x="5272051" y="3635708"/>
            <a:ext cx="9693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= 8,101,105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211" name="사각형: 둥근 모서리 210">
            <a:extLst>
              <a:ext uri="{FF2B5EF4-FFF2-40B4-BE49-F238E27FC236}">
                <a16:creationId xmlns:a16="http://schemas.microsoft.com/office/drawing/2014/main" id="{BD8F3C7D-8B2B-A0B9-F69B-F1E8BA3D24D8}"/>
              </a:ext>
            </a:extLst>
          </p:cNvPr>
          <p:cNvSpPr/>
          <p:nvPr/>
        </p:nvSpPr>
        <p:spPr>
          <a:xfrm>
            <a:off x="4652491" y="3310854"/>
            <a:ext cx="2888539" cy="246222"/>
          </a:xfrm>
          <a:prstGeom prst="roundRect">
            <a:avLst>
              <a:gd name="adj" fmla="val 16204"/>
            </a:avLst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보유세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0.83% ·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120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 보유 시 원금 소멸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0110B94-53B4-1AB2-610B-222E04D29836}"/>
              </a:ext>
            </a:extLst>
          </p:cNvPr>
          <p:cNvSpPr/>
          <p:nvPr/>
        </p:nvSpPr>
        <p:spPr>
          <a:xfrm>
            <a:off x="7020560" y="3975297"/>
            <a:ext cx="563795" cy="186775"/>
          </a:xfrm>
          <a:prstGeom prst="roundRect">
            <a:avLst>
              <a:gd name="adj" fmla="val 16204"/>
            </a:avLst>
          </a:prstGeom>
          <a:solidFill>
            <a:schemeClr val="bg1"/>
          </a:solidFill>
          <a:ln w="6350">
            <a:solidFill>
              <a:srgbClr val="12FA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12FAC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100%</a:t>
            </a:r>
            <a:endParaRPr lang="ko-KR" altLang="en-US" sz="1000" dirty="0">
              <a:solidFill>
                <a:srgbClr val="12FAC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1FD4D220-4AE6-C669-0A04-7993604222E6}"/>
              </a:ext>
            </a:extLst>
          </p:cNvPr>
          <p:cNvSpPr/>
          <p:nvPr/>
        </p:nvSpPr>
        <p:spPr>
          <a:xfrm>
            <a:off x="6384724" y="3975297"/>
            <a:ext cx="563795" cy="186775"/>
          </a:xfrm>
          <a:prstGeom prst="roundRect">
            <a:avLst>
              <a:gd name="adj" fmla="val 16204"/>
            </a:avLst>
          </a:prstGeom>
          <a:solidFill>
            <a:schemeClr val="bg1"/>
          </a:solidFill>
          <a:ln w="6350">
            <a:solidFill>
              <a:srgbClr val="12FA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12FAC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75%</a:t>
            </a:r>
            <a:endParaRPr lang="ko-KR" altLang="en-US" sz="1000" dirty="0">
              <a:solidFill>
                <a:srgbClr val="12FAC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9DE1228C-B766-2017-3C3E-9002DB206AC1}"/>
              </a:ext>
            </a:extLst>
          </p:cNvPr>
          <p:cNvSpPr/>
          <p:nvPr/>
        </p:nvSpPr>
        <p:spPr>
          <a:xfrm>
            <a:off x="5751612" y="3975297"/>
            <a:ext cx="563795" cy="186775"/>
          </a:xfrm>
          <a:prstGeom prst="roundRect">
            <a:avLst>
              <a:gd name="adj" fmla="val 16204"/>
            </a:avLst>
          </a:prstGeom>
          <a:solidFill>
            <a:schemeClr val="bg1"/>
          </a:solidFill>
          <a:ln w="6350">
            <a:solidFill>
              <a:srgbClr val="12FA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12FAC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50%</a:t>
            </a:r>
            <a:endParaRPr lang="ko-KR" altLang="en-US" sz="1000" dirty="0">
              <a:solidFill>
                <a:srgbClr val="12FAC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52D36F88-B896-C7B0-FC89-4C314157EB73}"/>
              </a:ext>
            </a:extLst>
          </p:cNvPr>
          <p:cNvSpPr/>
          <p:nvPr/>
        </p:nvSpPr>
        <p:spPr>
          <a:xfrm>
            <a:off x="5115776" y="3975297"/>
            <a:ext cx="563795" cy="186775"/>
          </a:xfrm>
          <a:prstGeom prst="roundRect">
            <a:avLst>
              <a:gd name="adj" fmla="val 16204"/>
            </a:avLst>
          </a:prstGeom>
          <a:solidFill>
            <a:schemeClr val="bg1"/>
          </a:solidFill>
          <a:ln w="6350">
            <a:solidFill>
              <a:srgbClr val="12FA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12FAC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25%</a:t>
            </a:r>
            <a:endParaRPr lang="ko-KR" altLang="en-US" sz="1000" dirty="0">
              <a:solidFill>
                <a:srgbClr val="12FAC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759DF4E-EF6C-58F9-9D08-0CF55641E2D9}"/>
              </a:ext>
            </a:extLst>
          </p:cNvPr>
          <p:cNvSpPr txBox="1"/>
          <p:nvPr/>
        </p:nvSpPr>
        <p:spPr>
          <a:xfrm>
            <a:off x="4605721" y="3963297"/>
            <a:ext cx="436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매수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2D7B3BD6-7E80-D77C-8BFE-63A8146840B5}"/>
              </a:ext>
            </a:extLst>
          </p:cNvPr>
          <p:cNvSpPr/>
          <p:nvPr/>
        </p:nvSpPr>
        <p:spPr>
          <a:xfrm>
            <a:off x="7020560" y="4231322"/>
            <a:ext cx="563795" cy="186775"/>
          </a:xfrm>
          <a:prstGeom prst="roundRect">
            <a:avLst>
              <a:gd name="adj" fmla="val 16204"/>
            </a:avLst>
          </a:prstGeom>
          <a:solidFill>
            <a:schemeClr val="bg1"/>
          </a:solidFill>
          <a:ln w="6350">
            <a:solidFill>
              <a:srgbClr val="F557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557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100%</a:t>
            </a:r>
            <a:endParaRPr lang="ko-KR" altLang="en-US" sz="1000" dirty="0">
              <a:solidFill>
                <a:srgbClr val="F5576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9D48D4A5-FE20-EB12-17EA-0A0A3A437C27}"/>
              </a:ext>
            </a:extLst>
          </p:cNvPr>
          <p:cNvSpPr/>
          <p:nvPr/>
        </p:nvSpPr>
        <p:spPr>
          <a:xfrm>
            <a:off x="6384724" y="4231322"/>
            <a:ext cx="563795" cy="186775"/>
          </a:xfrm>
          <a:prstGeom prst="roundRect">
            <a:avLst>
              <a:gd name="adj" fmla="val 16204"/>
            </a:avLst>
          </a:prstGeom>
          <a:solidFill>
            <a:schemeClr val="bg1"/>
          </a:solidFill>
          <a:ln w="6350">
            <a:solidFill>
              <a:srgbClr val="F557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557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75%</a:t>
            </a:r>
            <a:endParaRPr lang="ko-KR" altLang="en-US" sz="1000" dirty="0">
              <a:solidFill>
                <a:srgbClr val="F5576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5B6EBAA0-7EC2-9F74-1A02-32D4EFA942D5}"/>
              </a:ext>
            </a:extLst>
          </p:cNvPr>
          <p:cNvSpPr/>
          <p:nvPr/>
        </p:nvSpPr>
        <p:spPr>
          <a:xfrm>
            <a:off x="5751612" y="4231322"/>
            <a:ext cx="563795" cy="186775"/>
          </a:xfrm>
          <a:prstGeom prst="roundRect">
            <a:avLst>
              <a:gd name="adj" fmla="val 16204"/>
            </a:avLst>
          </a:prstGeom>
          <a:solidFill>
            <a:schemeClr val="bg1"/>
          </a:solidFill>
          <a:ln w="6350">
            <a:solidFill>
              <a:srgbClr val="F557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557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50%</a:t>
            </a:r>
            <a:endParaRPr lang="ko-KR" altLang="en-US" sz="1000" dirty="0">
              <a:solidFill>
                <a:srgbClr val="F5576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CBC6397-A786-8361-B733-2B1BA2CF8A57}"/>
              </a:ext>
            </a:extLst>
          </p:cNvPr>
          <p:cNvSpPr/>
          <p:nvPr/>
        </p:nvSpPr>
        <p:spPr>
          <a:xfrm>
            <a:off x="5115776" y="4231322"/>
            <a:ext cx="563795" cy="186775"/>
          </a:xfrm>
          <a:prstGeom prst="roundRect">
            <a:avLst>
              <a:gd name="adj" fmla="val 16204"/>
            </a:avLst>
          </a:prstGeom>
          <a:solidFill>
            <a:schemeClr val="bg1"/>
          </a:solidFill>
          <a:ln w="6350">
            <a:solidFill>
              <a:srgbClr val="F557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557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25%</a:t>
            </a:r>
            <a:endParaRPr lang="ko-KR" altLang="en-US" sz="1000" dirty="0">
              <a:solidFill>
                <a:srgbClr val="F5576C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8006E2B-63E4-4C0F-9824-9C819BF6F817}"/>
              </a:ext>
            </a:extLst>
          </p:cNvPr>
          <p:cNvSpPr txBox="1"/>
          <p:nvPr/>
        </p:nvSpPr>
        <p:spPr>
          <a:xfrm>
            <a:off x="4605721" y="4211818"/>
            <a:ext cx="436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매도</a:t>
            </a: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33623BE1-80FF-D609-6BF4-048F35CA2BD2}"/>
              </a:ext>
            </a:extLst>
          </p:cNvPr>
          <p:cNvSpPr/>
          <p:nvPr/>
        </p:nvSpPr>
        <p:spPr>
          <a:xfrm>
            <a:off x="4652491" y="4497085"/>
            <a:ext cx="1394475" cy="270718"/>
          </a:xfrm>
          <a:prstGeom prst="roundRect">
            <a:avLst>
              <a:gd name="adj" fmla="val 27463"/>
            </a:avLst>
          </a:prstGeom>
          <a:solidFill>
            <a:srgbClr val="12FAC3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매수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7AABD45D-4444-E65B-3D38-C5C28ECF651B}"/>
              </a:ext>
            </a:extLst>
          </p:cNvPr>
          <p:cNvSpPr/>
          <p:nvPr/>
        </p:nvSpPr>
        <p:spPr>
          <a:xfrm>
            <a:off x="6146555" y="4497085"/>
            <a:ext cx="1394475" cy="270718"/>
          </a:xfrm>
          <a:prstGeom prst="roundRect">
            <a:avLst>
              <a:gd name="adj" fmla="val 27463"/>
            </a:avLst>
          </a:prstGeom>
          <a:solidFill>
            <a:srgbClr val="F5576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매도</a:t>
            </a: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716B010E-610D-4600-EBBF-5B7A1BA82655}"/>
              </a:ext>
            </a:extLst>
          </p:cNvPr>
          <p:cNvSpPr/>
          <p:nvPr/>
        </p:nvSpPr>
        <p:spPr>
          <a:xfrm>
            <a:off x="4494248" y="5011711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E1A8AB7-35B7-D034-B077-84C093D70908}"/>
              </a:ext>
            </a:extLst>
          </p:cNvPr>
          <p:cNvSpPr txBox="1"/>
          <p:nvPr/>
        </p:nvSpPr>
        <p:spPr>
          <a:xfrm>
            <a:off x="6114366" y="5083741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1,050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7F28A9B5-551E-D109-C6F2-BFDB9CE2B5CE}"/>
              </a:ext>
            </a:extLst>
          </p:cNvPr>
          <p:cNvSpPr txBox="1"/>
          <p:nvPr/>
        </p:nvSpPr>
        <p:spPr>
          <a:xfrm>
            <a:off x="6114366" y="5279922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 </a:t>
            </a:r>
            <a:r>
              <a:rPr lang="en-US" altLang="ko-KR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1.20%</a:t>
            </a:r>
            <a:endParaRPr lang="ko-KR" altLang="en-US" sz="8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6525684-9408-057A-9040-5FD6C7008EAB}"/>
              </a:ext>
            </a:extLst>
          </p:cNvPr>
          <p:cNvSpPr txBox="1"/>
          <p:nvPr/>
        </p:nvSpPr>
        <p:spPr>
          <a:xfrm>
            <a:off x="4541009" y="5095413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영남상회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A7A9B66-F9B7-7E99-5B22-947EF1121EC0}"/>
              </a:ext>
            </a:extLst>
          </p:cNvPr>
          <p:cNvSpPr txBox="1"/>
          <p:nvPr/>
        </p:nvSpPr>
        <p:spPr>
          <a:xfrm>
            <a:off x="4541009" y="5281977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YNH · 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유통</a:t>
            </a:r>
          </a:p>
        </p:txBody>
      </p:sp>
      <p:sp>
        <p:nvSpPr>
          <p:cNvPr id="231" name="사각형: 둥근 모서리 230">
            <a:extLst>
              <a:ext uri="{FF2B5EF4-FFF2-40B4-BE49-F238E27FC236}">
                <a16:creationId xmlns:a16="http://schemas.microsoft.com/office/drawing/2014/main" id="{FBF80E60-3BCE-9C01-E00A-C4AEF481266B}"/>
              </a:ext>
            </a:extLst>
          </p:cNvPr>
          <p:cNvSpPr/>
          <p:nvPr/>
        </p:nvSpPr>
        <p:spPr>
          <a:xfrm>
            <a:off x="4494248" y="5646715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D610E5F-39B3-B81D-D4D1-F7D0C4B9BED4}"/>
              </a:ext>
            </a:extLst>
          </p:cNvPr>
          <p:cNvSpPr txBox="1"/>
          <p:nvPr/>
        </p:nvSpPr>
        <p:spPr>
          <a:xfrm>
            <a:off x="6114366" y="5718745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2,006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F5138A9-3DF3-B747-39C9-E1A24B30F8BA}"/>
              </a:ext>
            </a:extLst>
          </p:cNvPr>
          <p:cNvSpPr txBox="1"/>
          <p:nvPr/>
        </p:nvSpPr>
        <p:spPr>
          <a:xfrm>
            <a:off x="6114366" y="5914926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 </a:t>
            </a:r>
            <a:r>
              <a:rPr lang="en-US" altLang="ko-KR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2.02%</a:t>
            </a:r>
            <a:endParaRPr lang="ko-KR" altLang="en-US" sz="8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77B8A735-FE01-3E33-6E14-B1D874C1A471}"/>
              </a:ext>
            </a:extLst>
          </p:cNvPr>
          <p:cNvSpPr txBox="1"/>
          <p:nvPr/>
        </p:nvSpPr>
        <p:spPr>
          <a:xfrm>
            <a:off x="4541009" y="5730417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홍만건설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EAB5946A-3D31-D65E-89FB-1133BA53622F}"/>
              </a:ext>
            </a:extLst>
          </p:cNvPr>
          <p:cNvSpPr txBox="1"/>
          <p:nvPr/>
        </p:nvSpPr>
        <p:spPr>
          <a:xfrm>
            <a:off x="4541009" y="5916981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HMS · 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72A93B-3E38-AF23-CCF7-C77D166DE072}"/>
              </a:ext>
            </a:extLst>
          </p:cNvPr>
          <p:cNvSpPr txBox="1"/>
          <p:nvPr/>
        </p:nvSpPr>
        <p:spPr>
          <a:xfrm>
            <a:off x="7945915" y="5934670"/>
            <a:ext cx="424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400" dirty="0">
                <a:solidFill>
                  <a:srgbClr val="05CD9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거래 주문</a:t>
            </a:r>
          </a:p>
        </p:txBody>
      </p:sp>
    </p:spTree>
    <p:extLst>
      <p:ext uri="{BB962C8B-B14F-4D97-AF65-F5344CB8AC3E}">
        <p14:creationId xmlns:p14="http://schemas.microsoft.com/office/powerpoint/2010/main" val="804896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1129C-4BFE-DCC1-8187-EFC0839B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5AF98AB3-6A52-8382-B3F0-B403654848CF}"/>
              </a:ext>
            </a:extLst>
          </p:cNvPr>
          <p:cNvSpPr/>
          <p:nvPr/>
        </p:nvSpPr>
        <p:spPr>
          <a:xfrm>
            <a:off x="4425776" y="0"/>
            <a:ext cx="3337559" cy="6858000"/>
          </a:xfrm>
          <a:prstGeom prst="rect">
            <a:avLst/>
          </a:prstGeom>
          <a:solidFill>
            <a:srgbClr val="F7F7F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``</a:t>
            </a:r>
            <a:endParaRPr lang="ko-KR" altLang="en-US" dirty="0"/>
          </a:p>
        </p:txBody>
      </p:sp>
      <p:sp>
        <p:nvSpPr>
          <p:cNvPr id="277" name="사각형: 둥근 모서리 276">
            <a:extLst>
              <a:ext uri="{FF2B5EF4-FFF2-40B4-BE49-F238E27FC236}">
                <a16:creationId xmlns:a16="http://schemas.microsoft.com/office/drawing/2014/main" id="{30D08404-40C8-E372-EF6F-EA92F74115C3}"/>
              </a:ext>
            </a:extLst>
          </p:cNvPr>
          <p:cNvSpPr/>
          <p:nvPr/>
        </p:nvSpPr>
        <p:spPr>
          <a:xfrm>
            <a:off x="4499262" y="5019112"/>
            <a:ext cx="3193475" cy="888300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238798FD-8260-6637-92C2-3510B08342FE}"/>
              </a:ext>
            </a:extLst>
          </p:cNvPr>
          <p:cNvSpPr txBox="1"/>
          <p:nvPr/>
        </p:nvSpPr>
        <p:spPr>
          <a:xfrm>
            <a:off x="4694629" y="5102814"/>
            <a:ext cx="2998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오픈소스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AI 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투자 확대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… "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혁신 선도 기업으로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"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6C0B31CE-780C-D9C2-B360-609CFA14764C}"/>
              </a:ext>
            </a:extLst>
          </p:cNvPr>
          <p:cNvSpPr txBox="1"/>
          <p:nvPr/>
        </p:nvSpPr>
        <p:spPr>
          <a:xfrm>
            <a:off x="4621183" y="5344810"/>
            <a:ext cx="2921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오픈소스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(OPS)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인공지능 개발에 대규모 투자를 단행했다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차세대 기술 개발을 통해 시장 경쟁력을 강화할 방침이며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업계 전문가들은 긍정적으로 평가하고 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4CB70FEC-93C9-F2B0-85AD-AB3AAF2E0B00}"/>
              </a:ext>
            </a:extLst>
          </p:cNvPr>
          <p:cNvSpPr/>
          <p:nvPr/>
        </p:nvSpPr>
        <p:spPr>
          <a:xfrm>
            <a:off x="4664699" y="5199347"/>
            <a:ext cx="75576" cy="75576"/>
          </a:xfrm>
          <a:prstGeom prst="ellipse">
            <a:avLst/>
          </a:prstGeom>
          <a:solidFill>
            <a:srgbClr val="13FF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사각형: 둥근 모서리 280">
            <a:extLst>
              <a:ext uri="{FF2B5EF4-FFF2-40B4-BE49-F238E27FC236}">
                <a16:creationId xmlns:a16="http://schemas.microsoft.com/office/drawing/2014/main" id="{D953AC3A-247D-1127-5D1D-48B6F7FCFABB}"/>
              </a:ext>
            </a:extLst>
          </p:cNvPr>
          <p:cNvSpPr/>
          <p:nvPr/>
        </p:nvSpPr>
        <p:spPr>
          <a:xfrm>
            <a:off x="4499262" y="6036275"/>
            <a:ext cx="3193475" cy="305349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1116F763-353F-B16B-9C0E-EAD029ACC534}"/>
              </a:ext>
            </a:extLst>
          </p:cNvPr>
          <p:cNvSpPr txBox="1"/>
          <p:nvPr/>
        </p:nvSpPr>
        <p:spPr>
          <a:xfrm>
            <a:off x="4694629" y="6119977"/>
            <a:ext cx="2998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철수뱅크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부실 대출 논란으로 신용도 하락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43DA069C-3C43-7650-27E5-367F35BF6264}"/>
              </a:ext>
            </a:extLst>
          </p:cNvPr>
          <p:cNvSpPr txBox="1"/>
          <p:nvPr/>
        </p:nvSpPr>
        <p:spPr>
          <a:xfrm>
            <a:off x="4621183" y="6361973"/>
            <a:ext cx="2921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홍만건설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(HMB)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공공 인프라 프로젝트 수주에 성공했다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증대가 기대되는 반면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인건비 및 </a:t>
            </a:r>
            <a:r>
              <a:rPr lang="ko-KR" altLang="en-US" sz="8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자재비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상승으로 인한 채산성 우려도 제기되고 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전문가들은 프로젝트 진행 상황을 주시할 예정이다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4" name="타원 283">
            <a:extLst>
              <a:ext uri="{FF2B5EF4-FFF2-40B4-BE49-F238E27FC236}">
                <a16:creationId xmlns:a16="http://schemas.microsoft.com/office/drawing/2014/main" id="{037A4868-15CE-5F81-1780-2D137CEED787}"/>
              </a:ext>
            </a:extLst>
          </p:cNvPr>
          <p:cNvSpPr/>
          <p:nvPr/>
        </p:nvSpPr>
        <p:spPr>
          <a:xfrm>
            <a:off x="4664699" y="6216510"/>
            <a:ext cx="75576" cy="75576"/>
          </a:xfrm>
          <a:prstGeom prst="ellipse">
            <a:avLst/>
          </a:prstGeom>
          <a:solidFill>
            <a:srgbClr val="E50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4C90FB4-67C4-18F8-E02D-4642D541F71D}"/>
              </a:ext>
            </a:extLst>
          </p:cNvPr>
          <p:cNvSpPr/>
          <p:nvPr/>
        </p:nvSpPr>
        <p:spPr>
          <a:xfrm>
            <a:off x="4428665" y="0"/>
            <a:ext cx="3337559" cy="474077"/>
          </a:xfrm>
          <a:prstGeom prst="rect">
            <a:avLst/>
          </a:prstGeom>
          <a:solidFill>
            <a:srgbClr val="155DFC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974F70-2B93-17D4-A034-E73BAC7C1EEA}"/>
              </a:ext>
            </a:extLst>
          </p:cNvPr>
          <p:cNvSpPr txBox="1"/>
          <p:nvPr/>
        </p:nvSpPr>
        <p:spPr>
          <a:xfrm>
            <a:off x="4497819" y="83201"/>
            <a:ext cx="213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MindStock</a:t>
            </a:r>
            <a:endParaRPr lang="ko-KR" altLang="en-US" sz="14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869BAD3-C77E-DB9B-89BF-EC0DAD9F689F}"/>
              </a:ext>
            </a:extLst>
          </p:cNvPr>
          <p:cNvGrpSpPr/>
          <p:nvPr/>
        </p:nvGrpSpPr>
        <p:grpSpPr>
          <a:xfrm>
            <a:off x="6959841" y="154579"/>
            <a:ext cx="124189" cy="166868"/>
            <a:chOff x="6622026" y="1650222"/>
            <a:chExt cx="845574" cy="1136158"/>
          </a:xfrm>
        </p:grpSpPr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B32C3927-B6D7-FC1D-2C07-4664177DDF54}"/>
                </a:ext>
              </a:extLst>
            </p:cNvPr>
            <p:cNvSpPr/>
            <p:nvPr/>
          </p:nvSpPr>
          <p:spPr>
            <a:xfrm>
              <a:off x="6670921" y="1650222"/>
              <a:ext cx="747784" cy="7477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이등변 삼각형 172">
              <a:extLst>
                <a:ext uri="{FF2B5EF4-FFF2-40B4-BE49-F238E27FC236}">
                  <a16:creationId xmlns:a16="http://schemas.microsoft.com/office/drawing/2014/main" id="{77082222-AEF1-2957-D425-057C397FD40A}"/>
                </a:ext>
              </a:extLst>
            </p:cNvPr>
            <p:cNvSpPr/>
            <p:nvPr/>
          </p:nvSpPr>
          <p:spPr>
            <a:xfrm>
              <a:off x="6622026" y="2009632"/>
              <a:ext cx="845574" cy="77674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EC5993B-4BD7-E4E9-7EFA-658A8ADCBDA7}"/>
              </a:ext>
            </a:extLst>
          </p:cNvPr>
          <p:cNvSpPr txBox="1"/>
          <p:nvPr/>
        </p:nvSpPr>
        <p:spPr>
          <a:xfrm>
            <a:off x="7086919" y="93230"/>
            <a:ext cx="620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</a:t>
            </a:r>
            <a:r>
              <a:rPr lang="ko-KR" altLang="en-US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829AE608-4EA2-652C-7EE7-C273E842B6EE}"/>
              </a:ext>
            </a:extLst>
          </p:cNvPr>
          <p:cNvSpPr/>
          <p:nvPr/>
        </p:nvSpPr>
        <p:spPr>
          <a:xfrm>
            <a:off x="4428665" y="6248400"/>
            <a:ext cx="3337559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3B28D0E-11E2-367E-7AF4-B88037F4C23B}"/>
              </a:ext>
            </a:extLst>
          </p:cNvPr>
          <p:cNvSpPr txBox="1"/>
          <p:nvPr/>
        </p:nvSpPr>
        <p:spPr>
          <a:xfrm>
            <a:off x="5787275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1ADE361-00C8-A209-600D-BB669A082157}"/>
              </a:ext>
            </a:extLst>
          </p:cNvPr>
          <p:cNvSpPr txBox="1"/>
          <p:nvPr/>
        </p:nvSpPr>
        <p:spPr>
          <a:xfrm>
            <a:off x="4428664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거래소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416F8C1-5417-F3F8-5E79-22D628EF1A96}"/>
              </a:ext>
            </a:extLst>
          </p:cNvPr>
          <p:cNvSpPr txBox="1"/>
          <p:nvPr/>
        </p:nvSpPr>
        <p:spPr>
          <a:xfrm>
            <a:off x="5107969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155DF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뉴스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47BE876-2CD8-D0CD-A1F6-A450725AB8E5}"/>
              </a:ext>
            </a:extLst>
          </p:cNvPr>
          <p:cNvSpPr txBox="1"/>
          <p:nvPr/>
        </p:nvSpPr>
        <p:spPr>
          <a:xfrm>
            <a:off x="6466581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성향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960EABC-B1A1-EDBC-89F4-6881A9F54D9E}"/>
              </a:ext>
            </a:extLst>
          </p:cNvPr>
          <p:cNvSpPr txBox="1"/>
          <p:nvPr/>
        </p:nvSpPr>
        <p:spPr>
          <a:xfrm>
            <a:off x="7145886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랭킹</a:t>
            </a: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D4C8ACA7-025A-7F25-7D57-55071C9D44DF}"/>
              </a:ext>
            </a:extLst>
          </p:cNvPr>
          <p:cNvSpPr/>
          <p:nvPr/>
        </p:nvSpPr>
        <p:spPr>
          <a:xfrm>
            <a:off x="4653174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ABBA6B7B-BE9F-6FBF-646A-71E3B61C133C}"/>
              </a:ext>
            </a:extLst>
          </p:cNvPr>
          <p:cNvSpPr/>
          <p:nvPr/>
        </p:nvSpPr>
        <p:spPr>
          <a:xfrm>
            <a:off x="5332479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45724A97-685E-844A-A38B-519F30213B8B}"/>
              </a:ext>
            </a:extLst>
          </p:cNvPr>
          <p:cNvSpPr/>
          <p:nvPr/>
        </p:nvSpPr>
        <p:spPr>
          <a:xfrm>
            <a:off x="6008898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1DFB0751-5065-E4E6-D81A-A4F670787483}"/>
              </a:ext>
            </a:extLst>
          </p:cNvPr>
          <p:cNvSpPr/>
          <p:nvPr/>
        </p:nvSpPr>
        <p:spPr>
          <a:xfrm>
            <a:off x="6685317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0C430539-341F-493C-63A5-AC5E53225151}"/>
              </a:ext>
            </a:extLst>
          </p:cNvPr>
          <p:cNvSpPr/>
          <p:nvPr/>
        </p:nvSpPr>
        <p:spPr>
          <a:xfrm>
            <a:off x="7370396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CD17F73D-EE83-D5FD-4AD5-137AC3338F0F}"/>
              </a:ext>
            </a:extLst>
          </p:cNvPr>
          <p:cNvSpPr/>
          <p:nvPr/>
        </p:nvSpPr>
        <p:spPr>
          <a:xfrm>
            <a:off x="4499262" y="571376"/>
            <a:ext cx="3193475" cy="888300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BDBB9C1-454C-1CA3-6F34-E2037277AB29}"/>
              </a:ext>
            </a:extLst>
          </p:cNvPr>
          <p:cNvSpPr txBox="1"/>
          <p:nvPr/>
        </p:nvSpPr>
        <p:spPr>
          <a:xfrm>
            <a:off x="4694629" y="655078"/>
            <a:ext cx="2998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천마전자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신규 반도체 생산라인 가동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…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8E29108-0839-8890-063A-C2A5B36877D9}"/>
              </a:ext>
            </a:extLst>
          </p:cNvPr>
          <p:cNvSpPr txBox="1"/>
          <p:nvPr/>
        </p:nvSpPr>
        <p:spPr>
          <a:xfrm>
            <a:off x="4621183" y="897074"/>
            <a:ext cx="2921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천마전자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(CME)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반도체 생산라인을 가동했다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생산량 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40%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확대와 내년 매출 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30%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성장을 목표로 하며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업계 전문가들의 긍정적 평가를 받고 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8" name="타원 257">
            <a:extLst>
              <a:ext uri="{FF2B5EF4-FFF2-40B4-BE49-F238E27FC236}">
                <a16:creationId xmlns:a16="http://schemas.microsoft.com/office/drawing/2014/main" id="{F71ACCC5-A8B3-2354-D63E-E44BEC95A318}"/>
              </a:ext>
            </a:extLst>
          </p:cNvPr>
          <p:cNvSpPr/>
          <p:nvPr/>
        </p:nvSpPr>
        <p:spPr>
          <a:xfrm>
            <a:off x="4664699" y="751611"/>
            <a:ext cx="75576" cy="75576"/>
          </a:xfrm>
          <a:prstGeom prst="ellipse">
            <a:avLst/>
          </a:prstGeom>
          <a:solidFill>
            <a:srgbClr val="13FF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사각형: 둥근 모서리 258">
            <a:extLst>
              <a:ext uri="{FF2B5EF4-FFF2-40B4-BE49-F238E27FC236}">
                <a16:creationId xmlns:a16="http://schemas.microsoft.com/office/drawing/2014/main" id="{F1DF7EB4-968E-F9EB-0F1C-60C52BF231AE}"/>
              </a:ext>
            </a:extLst>
          </p:cNvPr>
          <p:cNvSpPr/>
          <p:nvPr/>
        </p:nvSpPr>
        <p:spPr>
          <a:xfrm>
            <a:off x="4499262" y="1569722"/>
            <a:ext cx="3193475" cy="888300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C60BC4DA-2AA4-93AC-9279-3B2605293D7F}"/>
              </a:ext>
            </a:extLst>
          </p:cNvPr>
          <p:cNvSpPr txBox="1"/>
          <p:nvPr/>
        </p:nvSpPr>
        <p:spPr>
          <a:xfrm>
            <a:off x="4694629" y="1653424"/>
            <a:ext cx="2998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보리푸드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식중독 사건으로 위기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… 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주가 급락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C159E14-2829-E2C7-706E-468E7795C4A9}"/>
              </a:ext>
            </a:extLst>
          </p:cNvPr>
          <p:cNvSpPr txBox="1"/>
          <p:nvPr/>
        </p:nvSpPr>
        <p:spPr>
          <a:xfrm>
            <a:off x="4621183" y="1895420"/>
            <a:ext cx="2921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보리푸드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(BRF)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제품에서 식중독 균이 검출되며 시장의 신뢰가 무너졌다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회사는 전량회수에 나섰으며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관련 수사가 진행중이다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업계에서는 회사의 품질관리 체계에 심각한 문제가 있었던 것으로 보고 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A792C310-4344-6220-1DDD-7D4998849F5A}"/>
              </a:ext>
            </a:extLst>
          </p:cNvPr>
          <p:cNvSpPr/>
          <p:nvPr/>
        </p:nvSpPr>
        <p:spPr>
          <a:xfrm>
            <a:off x="4664699" y="1749957"/>
            <a:ext cx="75576" cy="75576"/>
          </a:xfrm>
          <a:prstGeom prst="ellipse">
            <a:avLst/>
          </a:prstGeom>
          <a:solidFill>
            <a:srgbClr val="E50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E704E4AE-F4CE-1F3B-A063-1D846075A6E4}"/>
              </a:ext>
            </a:extLst>
          </p:cNvPr>
          <p:cNvCxnSpPr>
            <a:cxnSpLocks/>
          </p:cNvCxnSpPr>
          <p:nvPr/>
        </p:nvCxnSpPr>
        <p:spPr>
          <a:xfrm>
            <a:off x="4534971" y="2754958"/>
            <a:ext cx="834769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2002783A-844E-1D40-0CEC-4D654801C34C}"/>
              </a:ext>
            </a:extLst>
          </p:cNvPr>
          <p:cNvSpPr txBox="1"/>
          <p:nvPr/>
        </p:nvSpPr>
        <p:spPr>
          <a:xfrm>
            <a:off x="5377832" y="2618620"/>
            <a:ext cx="1436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지난 뉴스</a:t>
            </a:r>
          </a:p>
        </p:txBody>
      </p: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59DAC02C-98B4-0EBF-3F73-D41E4E0C2F14}"/>
              </a:ext>
            </a:extLst>
          </p:cNvPr>
          <p:cNvCxnSpPr>
            <a:cxnSpLocks/>
          </p:cNvCxnSpPr>
          <p:nvPr/>
        </p:nvCxnSpPr>
        <p:spPr>
          <a:xfrm>
            <a:off x="6816797" y="2754958"/>
            <a:ext cx="834769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사각형: 둥근 모서리 268">
            <a:extLst>
              <a:ext uri="{FF2B5EF4-FFF2-40B4-BE49-F238E27FC236}">
                <a16:creationId xmlns:a16="http://schemas.microsoft.com/office/drawing/2014/main" id="{ACC5AE8D-B23C-56EF-39D7-860AC4EFA315}"/>
              </a:ext>
            </a:extLst>
          </p:cNvPr>
          <p:cNvSpPr/>
          <p:nvPr/>
        </p:nvSpPr>
        <p:spPr>
          <a:xfrm>
            <a:off x="4499262" y="2984582"/>
            <a:ext cx="3193475" cy="888300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F59FCBC-3C9A-31EE-FF41-DE7915F3346E}"/>
              </a:ext>
            </a:extLst>
          </p:cNvPr>
          <p:cNvSpPr txBox="1"/>
          <p:nvPr/>
        </p:nvSpPr>
        <p:spPr>
          <a:xfrm>
            <a:off x="4694629" y="3068284"/>
            <a:ext cx="2998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영남상회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2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분기 실적 발표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… 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시장 기대감 모아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8D2A6D9A-7AEA-A15B-7B08-30180474CF0F}"/>
              </a:ext>
            </a:extLst>
          </p:cNvPr>
          <p:cNvSpPr txBox="1"/>
          <p:nvPr/>
        </p:nvSpPr>
        <p:spPr>
          <a:xfrm>
            <a:off x="4621183" y="3310280"/>
            <a:ext cx="2921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영남상회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(YSH)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분기 실적을 공개했다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매출은 전년 동기 대비 소폭 증가했으나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원가 상승으로 인한 마진 압박이 지속되고 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회사는 하반기 사업 전략을 재정비할 예정이다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FD8F1DF4-8B0F-1EAF-DA5D-2BEAE9B5C2FC}"/>
              </a:ext>
            </a:extLst>
          </p:cNvPr>
          <p:cNvSpPr/>
          <p:nvPr/>
        </p:nvSpPr>
        <p:spPr>
          <a:xfrm>
            <a:off x="4664699" y="3164817"/>
            <a:ext cx="75576" cy="7557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사각형: 둥근 모서리 272">
            <a:extLst>
              <a:ext uri="{FF2B5EF4-FFF2-40B4-BE49-F238E27FC236}">
                <a16:creationId xmlns:a16="http://schemas.microsoft.com/office/drawing/2014/main" id="{08331CF9-4BAC-A10F-0D6A-84FC07EB0AA0}"/>
              </a:ext>
            </a:extLst>
          </p:cNvPr>
          <p:cNvSpPr/>
          <p:nvPr/>
        </p:nvSpPr>
        <p:spPr>
          <a:xfrm>
            <a:off x="4499262" y="4001745"/>
            <a:ext cx="3193475" cy="888300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CDE4EFA0-F9D8-C7CA-C8E4-D5BF75E6992F}"/>
              </a:ext>
            </a:extLst>
          </p:cNvPr>
          <p:cNvSpPr txBox="1"/>
          <p:nvPr/>
        </p:nvSpPr>
        <p:spPr>
          <a:xfrm>
            <a:off x="4694629" y="4085447"/>
            <a:ext cx="2998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홍만건설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대형 프로젝트 수주</a:t>
            </a:r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… </a:t>
            </a:r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향후 전망 엇갈려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DC87B13-DCE6-E9CA-E9EF-50EA98E8C40D}"/>
              </a:ext>
            </a:extLst>
          </p:cNvPr>
          <p:cNvSpPr txBox="1"/>
          <p:nvPr/>
        </p:nvSpPr>
        <p:spPr>
          <a:xfrm>
            <a:off x="4621183" y="4327443"/>
            <a:ext cx="2921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홍만건설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(HMB)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공공 인프라 프로젝트 수주에 성공했다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증대가 기대되는 반면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인건비 및 </a:t>
            </a:r>
            <a:r>
              <a:rPr lang="ko-KR" altLang="en-US" sz="8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자재비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상승으로 인한 채산성 우려도 제기되고 있다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전문가들은 프로젝트 진행 상황을 주시할 예정이다</a:t>
            </a: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5423E3A4-833C-25DA-83CB-D4581B121F7C}"/>
              </a:ext>
            </a:extLst>
          </p:cNvPr>
          <p:cNvSpPr/>
          <p:nvPr/>
        </p:nvSpPr>
        <p:spPr>
          <a:xfrm>
            <a:off x="4664699" y="4181980"/>
            <a:ext cx="75576" cy="7557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5BDF4-2CA0-B302-04AA-AA7DAC5D237D}"/>
              </a:ext>
            </a:extLst>
          </p:cNvPr>
          <p:cNvSpPr txBox="1"/>
          <p:nvPr/>
        </p:nvSpPr>
        <p:spPr>
          <a:xfrm>
            <a:off x="7945915" y="5934670"/>
            <a:ext cx="424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400" dirty="0">
                <a:solidFill>
                  <a:srgbClr val="05CD9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뉴스</a:t>
            </a:r>
          </a:p>
        </p:txBody>
      </p:sp>
    </p:spTree>
    <p:extLst>
      <p:ext uri="{BB962C8B-B14F-4D97-AF65-F5344CB8AC3E}">
        <p14:creationId xmlns:p14="http://schemas.microsoft.com/office/powerpoint/2010/main" val="3540904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6BFF4-7566-0A64-1A10-A039FE72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5107AFF2-9E7A-0BDB-F070-E611A1A8E1F9}"/>
              </a:ext>
            </a:extLst>
          </p:cNvPr>
          <p:cNvSpPr/>
          <p:nvPr/>
        </p:nvSpPr>
        <p:spPr>
          <a:xfrm>
            <a:off x="4430023" y="0"/>
            <a:ext cx="3337559" cy="6858000"/>
          </a:xfrm>
          <a:prstGeom prst="rect">
            <a:avLst/>
          </a:prstGeom>
          <a:solidFill>
            <a:srgbClr val="F7F7F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471BEF77-DAA4-51D4-DF43-379D8F0B2916}"/>
              </a:ext>
            </a:extLst>
          </p:cNvPr>
          <p:cNvSpPr/>
          <p:nvPr/>
        </p:nvSpPr>
        <p:spPr>
          <a:xfrm>
            <a:off x="4432912" y="6248400"/>
            <a:ext cx="3337559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FD0E89BD-0D82-D61E-D553-2C3E6B7C2797}"/>
              </a:ext>
            </a:extLst>
          </p:cNvPr>
          <p:cNvSpPr/>
          <p:nvPr/>
        </p:nvSpPr>
        <p:spPr>
          <a:xfrm>
            <a:off x="4432912" y="0"/>
            <a:ext cx="3337559" cy="474077"/>
          </a:xfrm>
          <a:prstGeom prst="rect">
            <a:avLst/>
          </a:prstGeom>
          <a:solidFill>
            <a:srgbClr val="155DFC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73536E6-BAFE-2152-9440-30257A3D15D3}"/>
              </a:ext>
            </a:extLst>
          </p:cNvPr>
          <p:cNvSpPr txBox="1"/>
          <p:nvPr/>
        </p:nvSpPr>
        <p:spPr>
          <a:xfrm>
            <a:off x="4502066" y="83201"/>
            <a:ext cx="213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MindStock</a:t>
            </a:r>
            <a:endParaRPr lang="ko-KR" altLang="en-US" sz="14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E0770D4D-2563-6005-1FD0-2A2669775083}"/>
              </a:ext>
            </a:extLst>
          </p:cNvPr>
          <p:cNvGrpSpPr/>
          <p:nvPr/>
        </p:nvGrpSpPr>
        <p:grpSpPr>
          <a:xfrm>
            <a:off x="6964088" y="154579"/>
            <a:ext cx="124189" cy="166868"/>
            <a:chOff x="6622026" y="1650222"/>
            <a:chExt cx="845574" cy="1136158"/>
          </a:xfrm>
        </p:grpSpPr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89EB0BF9-1886-794A-C703-2DBFFA5450F4}"/>
                </a:ext>
              </a:extLst>
            </p:cNvPr>
            <p:cNvSpPr/>
            <p:nvPr/>
          </p:nvSpPr>
          <p:spPr>
            <a:xfrm>
              <a:off x="6670921" y="1650222"/>
              <a:ext cx="747784" cy="7477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이등변 삼각형 179">
              <a:extLst>
                <a:ext uri="{FF2B5EF4-FFF2-40B4-BE49-F238E27FC236}">
                  <a16:creationId xmlns:a16="http://schemas.microsoft.com/office/drawing/2014/main" id="{9C39F6A8-1359-A2B0-2012-032406CCDE9C}"/>
                </a:ext>
              </a:extLst>
            </p:cNvPr>
            <p:cNvSpPr/>
            <p:nvPr/>
          </p:nvSpPr>
          <p:spPr>
            <a:xfrm>
              <a:off x="6622026" y="2009632"/>
              <a:ext cx="845574" cy="77674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5BC44627-7A2B-6A45-4062-E3FA72F25701}"/>
              </a:ext>
            </a:extLst>
          </p:cNvPr>
          <p:cNvSpPr txBox="1"/>
          <p:nvPr/>
        </p:nvSpPr>
        <p:spPr>
          <a:xfrm>
            <a:off x="7091166" y="93230"/>
            <a:ext cx="620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</a:t>
            </a:r>
            <a:r>
              <a:rPr lang="ko-KR" altLang="en-US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</a:t>
            </a: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D61FF651-96B2-024D-591A-80AD43E29566}"/>
              </a:ext>
            </a:extLst>
          </p:cNvPr>
          <p:cNvSpPr/>
          <p:nvPr/>
        </p:nvSpPr>
        <p:spPr>
          <a:xfrm>
            <a:off x="4504955" y="565284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272139E-77B1-99A2-7ACE-C35172D2433A}"/>
              </a:ext>
            </a:extLst>
          </p:cNvPr>
          <p:cNvSpPr txBox="1"/>
          <p:nvPr/>
        </p:nvSpPr>
        <p:spPr>
          <a:xfrm>
            <a:off x="4548827" y="793001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123,456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E68B41D-841E-CA4E-34E3-D06D4C3D96C0}"/>
              </a:ext>
            </a:extLst>
          </p:cNvPr>
          <p:cNvSpPr txBox="1"/>
          <p:nvPr/>
        </p:nvSpPr>
        <p:spPr>
          <a:xfrm>
            <a:off x="4502066" y="608911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보유 현금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41D1828-EC3C-DD1D-A1B3-69CDA34005F9}"/>
              </a:ext>
            </a:extLst>
          </p:cNvPr>
          <p:cNvSpPr/>
          <p:nvPr/>
        </p:nvSpPr>
        <p:spPr>
          <a:xfrm>
            <a:off x="6148601" y="565284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987BC5C-D087-7532-E6F2-D895FE1C51A7}"/>
              </a:ext>
            </a:extLst>
          </p:cNvPr>
          <p:cNvSpPr txBox="1"/>
          <p:nvPr/>
        </p:nvSpPr>
        <p:spPr>
          <a:xfrm>
            <a:off x="6192473" y="793001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8,224,506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1913257-2A8D-64FA-9B26-F68BC48B1261}"/>
              </a:ext>
            </a:extLst>
          </p:cNvPr>
          <p:cNvSpPr txBox="1"/>
          <p:nvPr/>
        </p:nvSpPr>
        <p:spPr>
          <a:xfrm>
            <a:off x="6145712" y="608911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자산</a:t>
            </a: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00A8A865-27DA-E3EA-A35C-86A5DE31AA39}"/>
              </a:ext>
            </a:extLst>
          </p:cNvPr>
          <p:cNvSpPr/>
          <p:nvPr/>
        </p:nvSpPr>
        <p:spPr>
          <a:xfrm>
            <a:off x="4504955" y="1185217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F1A27FF-547D-A822-6175-41F62EC17897}"/>
              </a:ext>
            </a:extLst>
          </p:cNvPr>
          <p:cNvSpPr txBox="1"/>
          <p:nvPr/>
        </p:nvSpPr>
        <p:spPr>
          <a:xfrm>
            <a:off x="4548827" y="1412934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-12,733,884</a:t>
            </a:r>
            <a:r>
              <a:rPr lang="ko-KR" altLang="en-US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0C5A066-946B-0399-CBAE-6FD54F903279}"/>
              </a:ext>
            </a:extLst>
          </p:cNvPr>
          <p:cNvSpPr txBox="1"/>
          <p:nvPr/>
        </p:nvSpPr>
        <p:spPr>
          <a:xfrm>
            <a:off x="4502066" y="1228844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손익</a:t>
            </a: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A1BFE6BF-F7DB-1697-3823-9B3351641B59}"/>
              </a:ext>
            </a:extLst>
          </p:cNvPr>
          <p:cNvSpPr/>
          <p:nvPr/>
        </p:nvSpPr>
        <p:spPr>
          <a:xfrm>
            <a:off x="6148601" y="1185217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3163D41-31B3-C184-C791-B297A823F8A2}"/>
              </a:ext>
            </a:extLst>
          </p:cNvPr>
          <p:cNvSpPr txBox="1"/>
          <p:nvPr/>
        </p:nvSpPr>
        <p:spPr>
          <a:xfrm>
            <a:off x="6192473" y="1412934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-34.38%</a:t>
            </a:r>
            <a:endParaRPr lang="ko-KR" altLang="en-US" sz="14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14829AB-567D-68FE-D7C0-A399132E016E}"/>
              </a:ext>
            </a:extLst>
          </p:cNvPr>
          <p:cNvSpPr txBox="1"/>
          <p:nvPr/>
        </p:nvSpPr>
        <p:spPr>
          <a:xfrm>
            <a:off x="6145712" y="1228844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09D3158D-4A85-0B39-9DD0-7AC419F6EDD5}"/>
              </a:ext>
            </a:extLst>
          </p:cNvPr>
          <p:cNvSpPr/>
          <p:nvPr/>
        </p:nvSpPr>
        <p:spPr>
          <a:xfrm>
            <a:off x="4502067" y="1885035"/>
            <a:ext cx="1550094" cy="279263"/>
          </a:xfrm>
          <a:prstGeom prst="roundRect">
            <a:avLst>
              <a:gd name="adj" fmla="val 14048"/>
            </a:avLst>
          </a:prstGeom>
          <a:solidFill>
            <a:srgbClr val="155DFB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보유 종목</a:t>
            </a: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AAE73B16-4D62-D0AD-733B-2CD6D5D3F8E4}"/>
              </a:ext>
            </a:extLst>
          </p:cNvPr>
          <p:cNvSpPr/>
          <p:nvPr/>
        </p:nvSpPr>
        <p:spPr>
          <a:xfrm>
            <a:off x="4502066" y="2360836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D944A696-54BC-B30A-8407-09E5E5BFD7A3}"/>
              </a:ext>
            </a:extLst>
          </p:cNvPr>
          <p:cNvGrpSpPr/>
          <p:nvPr/>
        </p:nvGrpSpPr>
        <p:grpSpPr>
          <a:xfrm>
            <a:off x="6122184" y="2432866"/>
            <a:ext cx="1549829" cy="411625"/>
            <a:chOff x="6141464" y="2531606"/>
            <a:chExt cx="1549829" cy="411625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59B73D72-4C39-D0D3-1F3B-ECA16C71E08C}"/>
                </a:ext>
              </a:extLst>
            </p:cNvPr>
            <p:cNvSpPr txBox="1"/>
            <p:nvPr/>
          </p:nvSpPr>
          <p:spPr>
            <a:xfrm>
              <a:off x="6141464" y="2531606"/>
              <a:ext cx="15498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0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8,101,050</a:t>
              </a:r>
              <a:r>
                <a:rPr lang="ko-KR" altLang="en-US" sz="10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원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F7CACACC-5ED3-DFAC-FB8F-7C9A0B6430CB}"/>
                </a:ext>
              </a:extLst>
            </p:cNvPr>
            <p:cNvSpPr txBox="1"/>
            <p:nvPr/>
          </p:nvSpPr>
          <p:spPr>
            <a:xfrm>
              <a:off x="6141464" y="2727787"/>
              <a:ext cx="154982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 dirty="0">
                  <a:solidFill>
                    <a:srgbClr val="E50077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- 789,012</a:t>
              </a:r>
              <a:r>
                <a:rPr lang="ko-KR" altLang="en-US" sz="800" dirty="0">
                  <a:solidFill>
                    <a:srgbClr val="E50077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원 </a:t>
              </a:r>
              <a:r>
                <a:rPr lang="en-US" altLang="ko-KR" sz="800" dirty="0">
                  <a:solidFill>
                    <a:srgbClr val="E50077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(8.88%)</a:t>
              </a:r>
              <a:endParaRPr lang="ko-KR" altLang="en-US" sz="8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82C1BC46-2234-FCB9-5375-87617B1B49DB}"/>
              </a:ext>
            </a:extLst>
          </p:cNvPr>
          <p:cNvSpPr txBox="1"/>
          <p:nvPr/>
        </p:nvSpPr>
        <p:spPr>
          <a:xfrm>
            <a:off x="4548827" y="2444538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천마전자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856C6BC8-A733-8C3F-36EA-BD6366B94E7B}"/>
              </a:ext>
            </a:extLst>
          </p:cNvPr>
          <p:cNvSpPr txBox="1"/>
          <p:nvPr/>
        </p:nvSpPr>
        <p:spPr>
          <a:xfrm>
            <a:off x="4548827" y="2631102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 err="1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평단가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12,345,678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22D7F4AD-31AF-2BA2-A228-F3DD403067B1}"/>
              </a:ext>
            </a:extLst>
          </p:cNvPr>
          <p:cNvSpPr txBox="1"/>
          <p:nvPr/>
        </p:nvSpPr>
        <p:spPr>
          <a:xfrm>
            <a:off x="5082409" y="2484807"/>
            <a:ext cx="4990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7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보유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E8AFC5E6-5B8B-D412-679F-5128D2D2A83E}"/>
              </a:ext>
            </a:extLst>
          </p:cNvPr>
          <p:cNvSpPr txBox="1"/>
          <p:nvPr/>
        </p:nvSpPr>
        <p:spPr>
          <a:xfrm>
            <a:off x="5791522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155DF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26FE8A08-37EB-C6EF-3E07-BD384CF7E22E}"/>
              </a:ext>
            </a:extLst>
          </p:cNvPr>
          <p:cNvSpPr txBox="1"/>
          <p:nvPr/>
        </p:nvSpPr>
        <p:spPr>
          <a:xfrm>
            <a:off x="4432911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거래소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2E70505C-1C5F-9FDA-35CD-99C80D97D37A}"/>
              </a:ext>
            </a:extLst>
          </p:cNvPr>
          <p:cNvSpPr txBox="1"/>
          <p:nvPr/>
        </p:nvSpPr>
        <p:spPr>
          <a:xfrm>
            <a:off x="5112216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뉴스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0FA47F5-2012-024E-2512-87AA4B33C205}"/>
              </a:ext>
            </a:extLst>
          </p:cNvPr>
          <p:cNvSpPr txBox="1"/>
          <p:nvPr/>
        </p:nvSpPr>
        <p:spPr>
          <a:xfrm>
            <a:off x="6470828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성향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348EA6DA-DE73-30E9-FC39-4E42743034AD}"/>
              </a:ext>
            </a:extLst>
          </p:cNvPr>
          <p:cNvSpPr txBox="1"/>
          <p:nvPr/>
        </p:nvSpPr>
        <p:spPr>
          <a:xfrm>
            <a:off x="7150133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랭킹</a:t>
            </a:r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579F0184-F93F-AFE2-8463-E350420A7BF4}"/>
              </a:ext>
            </a:extLst>
          </p:cNvPr>
          <p:cNvSpPr/>
          <p:nvPr/>
        </p:nvSpPr>
        <p:spPr>
          <a:xfrm>
            <a:off x="4657421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타원 250">
            <a:extLst>
              <a:ext uri="{FF2B5EF4-FFF2-40B4-BE49-F238E27FC236}">
                <a16:creationId xmlns:a16="http://schemas.microsoft.com/office/drawing/2014/main" id="{F170854B-009A-35DC-9CCD-21510CEBC792}"/>
              </a:ext>
            </a:extLst>
          </p:cNvPr>
          <p:cNvSpPr/>
          <p:nvPr/>
        </p:nvSpPr>
        <p:spPr>
          <a:xfrm>
            <a:off x="5336726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F0E4CB60-A820-F12E-EE30-BF3CCA33ABC3}"/>
              </a:ext>
            </a:extLst>
          </p:cNvPr>
          <p:cNvSpPr/>
          <p:nvPr/>
        </p:nvSpPr>
        <p:spPr>
          <a:xfrm>
            <a:off x="6013145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타원 252">
            <a:extLst>
              <a:ext uri="{FF2B5EF4-FFF2-40B4-BE49-F238E27FC236}">
                <a16:creationId xmlns:a16="http://schemas.microsoft.com/office/drawing/2014/main" id="{6B3366F3-F2F3-A4DB-FC08-25B30616370F}"/>
              </a:ext>
            </a:extLst>
          </p:cNvPr>
          <p:cNvSpPr/>
          <p:nvPr/>
        </p:nvSpPr>
        <p:spPr>
          <a:xfrm>
            <a:off x="6689564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타원 253">
            <a:extLst>
              <a:ext uri="{FF2B5EF4-FFF2-40B4-BE49-F238E27FC236}">
                <a16:creationId xmlns:a16="http://schemas.microsoft.com/office/drawing/2014/main" id="{0D158E9F-038C-6BD0-5806-3FFDDE8DDDAB}"/>
              </a:ext>
            </a:extLst>
          </p:cNvPr>
          <p:cNvSpPr/>
          <p:nvPr/>
        </p:nvSpPr>
        <p:spPr>
          <a:xfrm>
            <a:off x="7374643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5" name="사각형: 둥근 모서리 254">
            <a:extLst>
              <a:ext uri="{FF2B5EF4-FFF2-40B4-BE49-F238E27FC236}">
                <a16:creationId xmlns:a16="http://schemas.microsoft.com/office/drawing/2014/main" id="{026F1723-54E9-B5B5-769D-DCE57A2DC3A6}"/>
              </a:ext>
            </a:extLst>
          </p:cNvPr>
          <p:cNvSpPr/>
          <p:nvPr/>
        </p:nvSpPr>
        <p:spPr>
          <a:xfrm>
            <a:off x="6161410" y="1879031"/>
            <a:ext cx="1550094" cy="284498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155DFC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내역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B5E95D-469D-3BC4-20DB-ACE20BE5CCD4}"/>
              </a:ext>
            </a:extLst>
          </p:cNvPr>
          <p:cNvSpPr/>
          <p:nvPr/>
        </p:nvSpPr>
        <p:spPr>
          <a:xfrm>
            <a:off x="0" y="0"/>
            <a:ext cx="3337559" cy="6858000"/>
          </a:xfrm>
          <a:prstGeom prst="rect">
            <a:avLst/>
          </a:prstGeom>
          <a:solidFill>
            <a:srgbClr val="F7F7F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4FD2DD-7BAC-01AC-981C-549B1BE5D8F5}"/>
              </a:ext>
            </a:extLst>
          </p:cNvPr>
          <p:cNvSpPr/>
          <p:nvPr/>
        </p:nvSpPr>
        <p:spPr>
          <a:xfrm>
            <a:off x="2889" y="6248400"/>
            <a:ext cx="3337559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894D3C-D25C-AF34-F465-4DF7FE15BF79}"/>
              </a:ext>
            </a:extLst>
          </p:cNvPr>
          <p:cNvSpPr/>
          <p:nvPr/>
        </p:nvSpPr>
        <p:spPr>
          <a:xfrm>
            <a:off x="2889" y="0"/>
            <a:ext cx="3337559" cy="474077"/>
          </a:xfrm>
          <a:prstGeom prst="rect">
            <a:avLst/>
          </a:prstGeom>
          <a:solidFill>
            <a:srgbClr val="155DFC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79BDA-9847-B7FC-7292-ECDE73C9342D}"/>
              </a:ext>
            </a:extLst>
          </p:cNvPr>
          <p:cNvSpPr txBox="1"/>
          <p:nvPr/>
        </p:nvSpPr>
        <p:spPr>
          <a:xfrm>
            <a:off x="72043" y="83201"/>
            <a:ext cx="213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MindStock</a:t>
            </a:r>
            <a:endParaRPr lang="ko-KR" altLang="en-US" sz="14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D0179A8-7354-6715-5C5E-09CD9D0F7A7E}"/>
              </a:ext>
            </a:extLst>
          </p:cNvPr>
          <p:cNvGrpSpPr/>
          <p:nvPr/>
        </p:nvGrpSpPr>
        <p:grpSpPr>
          <a:xfrm>
            <a:off x="2534065" y="154579"/>
            <a:ext cx="124189" cy="166868"/>
            <a:chOff x="6622026" y="1650222"/>
            <a:chExt cx="845574" cy="1136158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9605026-F8E0-8DBD-6507-9B31E8AA1F02}"/>
                </a:ext>
              </a:extLst>
            </p:cNvPr>
            <p:cNvSpPr/>
            <p:nvPr/>
          </p:nvSpPr>
          <p:spPr>
            <a:xfrm>
              <a:off x="6670921" y="1650222"/>
              <a:ext cx="747784" cy="7477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218121A3-273F-0FBE-C396-409E5F37B5F3}"/>
                </a:ext>
              </a:extLst>
            </p:cNvPr>
            <p:cNvSpPr/>
            <p:nvPr/>
          </p:nvSpPr>
          <p:spPr>
            <a:xfrm>
              <a:off x="6622026" y="2009632"/>
              <a:ext cx="845574" cy="77674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01ECA62-F99C-81EE-9B5F-FA078709E939}"/>
              </a:ext>
            </a:extLst>
          </p:cNvPr>
          <p:cNvSpPr txBox="1"/>
          <p:nvPr/>
        </p:nvSpPr>
        <p:spPr>
          <a:xfrm>
            <a:off x="2661143" y="93230"/>
            <a:ext cx="620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</a:t>
            </a:r>
            <a:r>
              <a:rPr lang="ko-KR" altLang="en-US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7C7ED88-148F-3C02-0D8F-91EC1A8734CA}"/>
              </a:ext>
            </a:extLst>
          </p:cNvPr>
          <p:cNvSpPr/>
          <p:nvPr/>
        </p:nvSpPr>
        <p:spPr>
          <a:xfrm>
            <a:off x="74932" y="565284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20238-6FE8-752F-0CF4-4A6FB6ADC100}"/>
              </a:ext>
            </a:extLst>
          </p:cNvPr>
          <p:cNvSpPr txBox="1"/>
          <p:nvPr/>
        </p:nvSpPr>
        <p:spPr>
          <a:xfrm>
            <a:off x="118804" y="793001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123,456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514FE-ADE0-120A-4EEE-6F9816E9A905}"/>
              </a:ext>
            </a:extLst>
          </p:cNvPr>
          <p:cNvSpPr txBox="1"/>
          <p:nvPr/>
        </p:nvSpPr>
        <p:spPr>
          <a:xfrm>
            <a:off x="72043" y="608911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보유 현금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1AF688C-7365-3CD6-6ED2-7A19E0475A43}"/>
              </a:ext>
            </a:extLst>
          </p:cNvPr>
          <p:cNvSpPr/>
          <p:nvPr/>
        </p:nvSpPr>
        <p:spPr>
          <a:xfrm>
            <a:off x="1718578" y="565284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C02300-EA47-F31B-9E1D-C3B931565F1B}"/>
              </a:ext>
            </a:extLst>
          </p:cNvPr>
          <p:cNvSpPr txBox="1"/>
          <p:nvPr/>
        </p:nvSpPr>
        <p:spPr>
          <a:xfrm>
            <a:off x="1762450" y="793001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8,224,506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99281-3DDB-4C45-0E7A-803E8F86FA3C}"/>
              </a:ext>
            </a:extLst>
          </p:cNvPr>
          <p:cNvSpPr txBox="1"/>
          <p:nvPr/>
        </p:nvSpPr>
        <p:spPr>
          <a:xfrm>
            <a:off x="1715689" y="608911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자산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149AB97-9061-8304-B13E-11CD6EC93A2D}"/>
              </a:ext>
            </a:extLst>
          </p:cNvPr>
          <p:cNvSpPr/>
          <p:nvPr/>
        </p:nvSpPr>
        <p:spPr>
          <a:xfrm>
            <a:off x="74932" y="1185217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66F27-691B-D5B6-2318-16F6A96CE59B}"/>
              </a:ext>
            </a:extLst>
          </p:cNvPr>
          <p:cNvSpPr txBox="1"/>
          <p:nvPr/>
        </p:nvSpPr>
        <p:spPr>
          <a:xfrm>
            <a:off x="118804" y="1412934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-12,733,884</a:t>
            </a:r>
            <a:r>
              <a:rPr lang="ko-KR" altLang="en-US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D24625-D64D-5D66-78BD-4F7D607EFFB1}"/>
              </a:ext>
            </a:extLst>
          </p:cNvPr>
          <p:cNvSpPr txBox="1"/>
          <p:nvPr/>
        </p:nvSpPr>
        <p:spPr>
          <a:xfrm>
            <a:off x="72043" y="1228844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손익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7F0339F-3F54-F3BF-5ECF-3AB4B15183DB}"/>
              </a:ext>
            </a:extLst>
          </p:cNvPr>
          <p:cNvSpPr/>
          <p:nvPr/>
        </p:nvSpPr>
        <p:spPr>
          <a:xfrm>
            <a:off x="1718578" y="1185217"/>
            <a:ext cx="1549829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79E4A-F3D2-918D-FC7B-A3E52E7D6B95}"/>
              </a:ext>
            </a:extLst>
          </p:cNvPr>
          <p:cNvSpPr txBox="1"/>
          <p:nvPr/>
        </p:nvSpPr>
        <p:spPr>
          <a:xfrm>
            <a:off x="1762450" y="1412934"/>
            <a:ext cx="1503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E5007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-34.38%</a:t>
            </a:r>
            <a:endParaRPr lang="ko-KR" altLang="en-US" sz="1400" dirty="0">
              <a:solidFill>
                <a:srgbClr val="E50077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BA3BA8-1594-F2C2-5EA5-4372C1EE2E05}"/>
              </a:ext>
            </a:extLst>
          </p:cNvPr>
          <p:cNvSpPr txBox="1"/>
          <p:nvPr/>
        </p:nvSpPr>
        <p:spPr>
          <a:xfrm>
            <a:off x="1715689" y="1228844"/>
            <a:ext cx="1549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수익률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2019DBD-7BC0-6A47-B5A5-BDF468733D62}"/>
              </a:ext>
            </a:extLst>
          </p:cNvPr>
          <p:cNvSpPr/>
          <p:nvPr/>
        </p:nvSpPr>
        <p:spPr>
          <a:xfrm>
            <a:off x="72044" y="1885035"/>
            <a:ext cx="1550094" cy="279263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155DF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보유 종목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303FAD8-7AA7-A4FA-1169-DF91328B8684}"/>
              </a:ext>
            </a:extLst>
          </p:cNvPr>
          <p:cNvSpPr/>
          <p:nvPr/>
        </p:nvSpPr>
        <p:spPr>
          <a:xfrm>
            <a:off x="72043" y="2360836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83A04E-2F84-1934-7458-8EA010AE3687}"/>
              </a:ext>
            </a:extLst>
          </p:cNvPr>
          <p:cNvSpPr txBox="1"/>
          <p:nvPr/>
        </p:nvSpPr>
        <p:spPr>
          <a:xfrm>
            <a:off x="1692161" y="2432866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12,345,678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BBF418-73AA-FAFC-52E2-481DFC1A1693}"/>
              </a:ext>
            </a:extLst>
          </p:cNvPr>
          <p:cNvSpPr txBox="1"/>
          <p:nvPr/>
        </p:nvSpPr>
        <p:spPr>
          <a:xfrm>
            <a:off x="1692161" y="2629047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2026.05.01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오전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8:10:15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AE551A-3E89-A00F-09EB-9C52B9168F81}"/>
              </a:ext>
            </a:extLst>
          </p:cNvPr>
          <p:cNvSpPr txBox="1"/>
          <p:nvPr/>
        </p:nvSpPr>
        <p:spPr>
          <a:xfrm>
            <a:off x="118804" y="2444538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천마전자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E26C99-31AF-3D4F-F354-97E73E23041D}"/>
              </a:ext>
            </a:extLst>
          </p:cNvPr>
          <p:cNvSpPr txBox="1"/>
          <p:nvPr/>
        </p:nvSpPr>
        <p:spPr>
          <a:xfrm>
            <a:off x="118804" y="2631102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 err="1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평단가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12,345,678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BB20A3-D912-3BC7-964E-2177C5BE7318}"/>
              </a:ext>
            </a:extLst>
          </p:cNvPr>
          <p:cNvSpPr txBox="1"/>
          <p:nvPr/>
        </p:nvSpPr>
        <p:spPr>
          <a:xfrm>
            <a:off x="652386" y="2484807"/>
            <a:ext cx="4990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12FAC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700" dirty="0">
                <a:solidFill>
                  <a:srgbClr val="12FAC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매수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066A76-F943-3A22-7752-D4AC01B88F82}"/>
              </a:ext>
            </a:extLst>
          </p:cNvPr>
          <p:cNvSpPr txBox="1"/>
          <p:nvPr/>
        </p:nvSpPr>
        <p:spPr>
          <a:xfrm>
            <a:off x="1361499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155DF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CD6BC6-E06E-0CAD-C0FD-9AC9AB66691A}"/>
              </a:ext>
            </a:extLst>
          </p:cNvPr>
          <p:cNvSpPr txBox="1"/>
          <p:nvPr/>
        </p:nvSpPr>
        <p:spPr>
          <a:xfrm>
            <a:off x="2888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9A7BD0-A05E-5592-0CEC-18E53577AA89}"/>
              </a:ext>
            </a:extLst>
          </p:cNvPr>
          <p:cNvSpPr txBox="1"/>
          <p:nvPr/>
        </p:nvSpPr>
        <p:spPr>
          <a:xfrm>
            <a:off x="682193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뉴스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13A3E1-BE0D-A47A-1FE6-2CA0EFF6D738}"/>
              </a:ext>
            </a:extLst>
          </p:cNvPr>
          <p:cNvSpPr txBox="1"/>
          <p:nvPr/>
        </p:nvSpPr>
        <p:spPr>
          <a:xfrm>
            <a:off x="2040805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성향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9B5A94-9938-EB59-3302-9131069A6EC1}"/>
              </a:ext>
            </a:extLst>
          </p:cNvPr>
          <p:cNvSpPr txBox="1"/>
          <p:nvPr/>
        </p:nvSpPr>
        <p:spPr>
          <a:xfrm>
            <a:off x="2720110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랭킹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524F921-B577-70F4-6B3A-CC3E74797890}"/>
              </a:ext>
            </a:extLst>
          </p:cNvPr>
          <p:cNvSpPr/>
          <p:nvPr/>
        </p:nvSpPr>
        <p:spPr>
          <a:xfrm>
            <a:off x="227398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4B98246-A2BC-6365-884E-48BA131FAF0F}"/>
              </a:ext>
            </a:extLst>
          </p:cNvPr>
          <p:cNvSpPr/>
          <p:nvPr/>
        </p:nvSpPr>
        <p:spPr>
          <a:xfrm>
            <a:off x="906703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927D628-5F14-559A-9B64-E6E6786D707E}"/>
              </a:ext>
            </a:extLst>
          </p:cNvPr>
          <p:cNvSpPr/>
          <p:nvPr/>
        </p:nvSpPr>
        <p:spPr>
          <a:xfrm>
            <a:off x="1583122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B63CA9BD-040F-907D-2AE7-31E8BD5405E0}"/>
              </a:ext>
            </a:extLst>
          </p:cNvPr>
          <p:cNvSpPr/>
          <p:nvPr/>
        </p:nvSpPr>
        <p:spPr>
          <a:xfrm>
            <a:off x="2259541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3DC67BC-9842-B017-50FE-5F016B275E7F}"/>
              </a:ext>
            </a:extLst>
          </p:cNvPr>
          <p:cNvSpPr/>
          <p:nvPr/>
        </p:nvSpPr>
        <p:spPr>
          <a:xfrm>
            <a:off x="2944620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B5AF66A-8A67-2C4C-8416-814941BF363B}"/>
              </a:ext>
            </a:extLst>
          </p:cNvPr>
          <p:cNvSpPr/>
          <p:nvPr/>
        </p:nvSpPr>
        <p:spPr>
          <a:xfrm>
            <a:off x="1731387" y="1879031"/>
            <a:ext cx="1550094" cy="284498"/>
          </a:xfrm>
          <a:prstGeom prst="roundRect">
            <a:avLst>
              <a:gd name="adj" fmla="val 14048"/>
            </a:avLst>
          </a:prstGeom>
          <a:solidFill>
            <a:srgbClr val="155DFB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거래 내역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91084F7-EB51-C6B4-CD32-17ADD8233AA8}"/>
              </a:ext>
            </a:extLst>
          </p:cNvPr>
          <p:cNvSpPr/>
          <p:nvPr/>
        </p:nvSpPr>
        <p:spPr>
          <a:xfrm>
            <a:off x="72043" y="2998027"/>
            <a:ext cx="3193475" cy="555686"/>
          </a:xfrm>
          <a:prstGeom prst="roundRect">
            <a:avLst>
              <a:gd name="adj" fmla="val 1404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FD4552-2F26-466B-2F2C-869E25131DA5}"/>
              </a:ext>
            </a:extLst>
          </p:cNvPr>
          <p:cNvSpPr txBox="1"/>
          <p:nvPr/>
        </p:nvSpPr>
        <p:spPr>
          <a:xfrm>
            <a:off x="1692161" y="3070057"/>
            <a:ext cx="15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1,234,567</a:t>
            </a:r>
            <a:r>
              <a:rPr lang="ko-KR" altLang="en-US" sz="1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16B431-F601-9C90-5281-95287CED6E83}"/>
              </a:ext>
            </a:extLst>
          </p:cNvPr>
          <p:cNvSpPr txBox="1"/>
          <p:nvPr/>
        </p:nvSpPr>
        <p:spPr>
          <a:xfrm>
            <a:off x="1692161" y="3266238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2026.05.01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오전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3:34:45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EF0299-F1B8-B60E-2B24-20A3CD1A12D6}"/>
              </a:ext>
            </a:extLst>
          </p:cNvPr>
          <p:cNvSpPr txBox="1"/>
          <p:nvPr/>
        </p:nvSpPr>
        <p:spPr>
          <a:xfrm>
            <a:off x="118804" y="3081729"/>
            <a:ext cx="1549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홍만건설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2DCA4F-4542-71B1-F5DD-BFC32427C092}"/>
              </a:ext>
            </a:extLst>
          </p:cNvPr>
          <p:cNvSpPr txBox="1"/>
          <p:nvPr/>
        </p:nvSpPr>
        <p:spPr>
          <a:xfrm>
            <a:off x="118804" y="3268293"/>
            <a:ext cx="15498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 err="1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평단가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12,470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D27A2D-18DC-953B-B9C4-57C12D7CC830}"/>
              </a:ext>
            </a:extLst>
          </p:cNvPr>
          <p:cNvSpPr txBox="1"/>
          <p:nvPr/>
        </p:nvSpPr>
        <p:spPr>
          <a:xfrm>
            <a:off x="652385" y="3121998"/>
            <a:ext cx="6501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F557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99</a:t>
            </a:r>
            <a:r>
              <a:rPr lang="ko-KR" altLang="en-US" sz="700" dirty="0">
                <a:solidFill>
                  <a:srgbClr val="F5576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매도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16337D-280F-7609-911C-703BD3A03B6C}"/>
              </a:ext>
            </a:extLst>
          </p:cNvPr>
          <p:cNvSpPr txBox="1"/>
          <p:nvPr/>
        </p:nvSpPr>
        <p:spPr>
          <a:xfrm>
            <a:off x="7945915" y="5934670"/>
            <a:ext cx="424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400" dirty="0">
                <a:solidFill>
                  <a:srgbClr val="05CD9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포트폴리오</a:t>
            </a:r>
          </a:p>
        </p:txBody>
      </p:sp>
    </p:spTree>
    <p:extLst>
      <p:ext uri="{BB962C8B-B14F-4D97-AF65-F5344CB8AC3E}">
        <p14:creationId xmlns:p14="http://schemas.microsoft.com/office/powerpoint/2010/main" val="2676733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E5A8D-49A9-12D0-581A-E1D17E70C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224283A7-38EA-1C61-1F98-6FD8321A955C}"/>
              </a:ext>
            </a:extLst>
          </p:cNvPr>
          <p:cNvSpPr/>
          <p:nvPr/>
        </p:nvSpPr>
        <p:spPr>
          <a:xfrm>
            <a:off x="4435661" y="0"/>
            <a:ext cx="3337559" cy="6858000"/>
          </a:xfrm>
          <a:prstGeom prst="rect">
            <a:avLst/>
          </a:prstGeom>
          <a:solidFill>
            <a:srgbClr val="F7F7F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8944448-7F41-0A5B-F7B3-C48A59638B5D}"/>
              </a:ext>
            </a:extLst>
          </p:cNvPr>
          <p:cNvSpPr/>
          <p:nvPr/>
        </p:nvSpPr>
        <p:spPr>
          <a:xfrm>
            <a:off x="4507704" y="5807948"/>
            <a:ext cx="3193475" cy="524686"/>
          </a:xfrm>
          <a:prstGeom prst="roundRect">
            <a:avLst>
              <a:gd name="adj" fmla="val 19338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F240D8A6-7E09-EC36-A58F-CFFA461A367B}"/>
              </a:ext>
            </a:extLst>
          </p:cNvPr>
          <p:cNvSpPr/>
          <p:nvPr/>
        </p:nvSpPr>
        <p:spPr>
          <a:xfrm>
            <a:off x="4639574" y="6186009"/>
            <a:ext cx="2330152" cy="76390"/>
          </a:xfrm>
          <a:prstGeom prst="roundRect">
            <a:avLst>
              <a:gd name="adj" fmla="val 50000"/>
            </a:avLst>
          </a:prstGeom>
          <a:solidFill>
            <a:srgbClr val="155D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C6410D4-F935-9880-0BE4-B7AD7BCCB9FA}"/>
              </a:ext>
            </a:extLst>
          </p:cNvPr>
          <p:cNvSpPr/>
          <p:nvPr/>
        </p:nvSpPr>
        <p:spPr>
          <a:xfrm>
            <a:off x="4438550" y="0"/>
            <a:ext cx="3337559" cy="474077"/>
          </a:xfrm>
          <a:prstGeom prst="rect">
            <a:avLst/>
          </a:prstGeom>
          <a:solidFill>
            <a:srgbClr val="155DFC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CF6809-ED36-819C-CFD5-91A8812985B0}"/>
              </a:ext>
            </a:extLst>
          </p:cNvPr>
          <p:cNvSpPr txBox="1"/>
          <p:nvPr/>
        </p:nvSpPr>
        <p:spPr>
          <a:xfrm>
            <a:off x="4507704" y="83201"/>
            <a:ext cx="213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MindStock</a:t>
            </a:r>
            <a:endParaRPr lang="ko-KR" altLang="en-US" sz="14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69310310-36CA-2215-9899-918867478BAB}"/>
              </a:ext>
            </a:extLst>
          </p:cNvPr>
          <p:cNvGrpSpPr/>
          <p:nvPr/>
        </p:nvGrpSpPr>
        <p:grpSpPr>
          <a:xfrm>
            <a:off x="6969726" y="154579"/>
            <a:ext cx="124189" cy="166868"/>
            <a:chOff x="6622026" y="1650222"/>
            <a:chExt cx="845574" cy="1136158"/>
          </a:xfrm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E6E074F2-F422-52E4-0CE2-B59D14D50B5A}"/>
                </a:ext>
              </a:extLst>
            </p:cNvPr>
            <p:cNvSpPr/>
            <p:nvPr/>
          </p:nvSpPr>
          <p:spPr>
            <a:xfrm>
              <a:off x="6670921" y="1650222"/>
              <a:ext cx="747784" cy="7477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이등변 삼각형 59">
              <a:extLst>
                <a:ext uri="{FF2B5EF4-FFF2-40B4-BE49-F238E27FC236}">
                  <a16:creationId xmlns:a16="http://schemas.microsoft.com/office/drawing/2014/main" id="{4F0B98A0-3B02-A541-715F-377511F019F3}"/>
                </a:ext>
              </a:extLst>
            </p:cNvPr>
            <p:cNvSpPr/>
            <p:nvPr/>
          </p:nvSpPr>
          <p:spPr>
            <a:xfrm>
              <a:off x="6622026" y="2009632"/>
              <a:ext cx="845574" cy="77674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86B8F3B-574B-2197-F14B-D7B02B904C43}"/>
              </a:ext>
            </a:extLst>
          </p:cNvPr>
          <p:cNvSpPr txBox="1"/>
          <p:nvPr/>
        </p:nvSpPr>
        <p:spPr>
          <a:xfrm>
            <a:off x="7096804" y="93230"/>
            <a:ext cx="620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</a:t>
            </a:r>
            <a:r>
              <a:rPr lang="ko-KR" altLang="en-US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448B063-CF9B-2FD2-57E9-07600228ADC5}"/>
              </a:ext>
            </a:extLst>
          </p:cNvPr>
          <p:cNvSpPr/>
          <p:nvPr/>
        </p:nvSpPr>
        <p:spPr>
          <a:xfrm>
            <a:off x="4507704" y="536602"/>
            <a:ext cx="3193475" cy="1752663"/>
          </a:xfrm>
          <a:prstGeom prst="roundRect">
            <a:avLst>
              <a:gd name="adj" fmla="val 9700"/>
            </a:avLst>
          </a:prstGeom>
          <a:gradFill>
            <a:gsLst>
              <a:gs pos="0">
                <a:srgbClr val="F093FB"/>
              </a:gs>
              <a:gs pos="99000">
                <a:srgbClr val="F5576C"/>
              </a:gs>
            </a:gsLst>
            <a:lin ang="2700000" scaled="0"/>
          </a:gra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6B2824E9-C012-A63A-839E-0D476A0BB17B}"/>
              </a:ext>
            </a:extLst>
          </p:cNvPr>
          <p:cNvSpPr/>
          <p:nvPr/>
        </p:nvSpPr>
        <p:spPr>
          <a:xfrm>
            <a:off x="4507704" y="2732490"/>
            <a:ext cx="3193475" cy="2514837"/>
          </a:xfrm>
          <a:prstGeom prst="roundRect">
            <a:avLst>
              <a:gd name="adj" fmla="val 3072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4456A4-2B18-7DDE-642C-72EE25E42DDB}"/>
              </a:ext>
            </a:extLst>
          </p:cNvPr>
          <p:cNvSpPr txBox="1"/>
          <p:nvPr/>
        </p:nvSpPr>
        <p:spPr>
          <a:xfrm>
            <a:off x="4554465" y="2816193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리스크 성향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878E595-87E0-E287-4513-9F9D5CB701EA}"/>
              </a:ext>
            </a:extLst>
          </p:cNvPr>
          <p:cNvSpPr/>
          <p:nvPr/>
        </p:nvSpPr>
        <p:spPr>
          <a:xfrm>
            <a:off x="4438550" y="6248400"/>
            <a:ext cx="3337559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FF8A3D-D30E-255A-6F34-9AF056ED3A7E}"/>
              </a:ext>
            </a:extLst>
          </p:cNvPr>
          <p:cNvSpPr txBox="1"/>
          <p:nvPr/>
        </p:nvSpPr>
        <p:spPr>
          <a:xfrm>
            <a:off x="5797160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AC69F3-2E76-A6B7-CDD6-419069874049}"/>
              </a:ext>
            </a:extLst>
          </p:cNvPr>
          <p:cNvSpPr txBox="1"/>
          <p:nvPr/>
        </p:nvSpPr>
        <p:spPr>
          <a:xfrm>
            <a:off x="4438549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거래소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0C82E7-CD31-62D1-8ADE-DAA3B9837D6E}"/>
              </a:ext>
            </a:extLst>
          </p:cNvPr>
          <p:cNvSpPr txBox="1"/>
          <p:nvPr/>
        </p:nvSpPr>
        <p:spPr>
          <a:xfrm>
            <a:off x="5117854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뉴스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5CB01C-2DAF-DEB8-8526-D80F81B928ED}"/>
              </a:ext>
            </a:extLst>
          </p:cNvPr>
          <p:cNvSpPr txBox="1"/>
          <p:nvPr/>
        </p:nvSpPr>
        <p:spPr>
          <a:xfrm>
            <a:off x="6476466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성향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315A59-B0F8-0D65-3E75-840F4F3F35DE}"/>
              </a:ext>
            </a:extLst>
          </p:cNvPr>
          <p:cNvSpPr txBox="1"/>
          <p:nvPr/>
        </p:nvSpPr>
        <p:spPr>
          <a:xfrm>
            <a:off x="7155771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랭킹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B0C99B74-D9BA-9151-1D4A-11DA58324D58}"/>
              </a:ext>
            </a:extLst>
          </p:cNvPr>
          <p:cNvSpPr/>
          <p:nvPr/>
        </p:nvSpPr>
        <p:spPr>
          <a:xfrm>
            <a:off x="4663059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666F6F99-F033-195B-A56C-A29F06724F67}"/>
              </a:ext>
            </a:extLst>
          </p:cNvPr>
          <p:cNvSpPr/>
          <p:nvPr/>
        </p:nvSpPr>
        <p:spPr>
          <a:xfrm>
            <a:off x="5342364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E2ACB0B-2818-29BF-4B9F-DD60C5A26F93}"/>
              </a:ext>
            </a:extLst>
          </p:cNvPr>
          <p:cNvSpPr/>
          <p:nvPr/>
        </p:nvSpPr>
        <p:spPr>
          <a:xfrm>
            <a:off x="6018783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746D95BE-EE1A-0098-DF3C-647F5569B193}"/>
              </a:ext>
            </a:extLst>
          </p:cNvPr>
          <p:cNvSpPr/>
          <p:nvPr/>
        </p:nvSpPr>
        <p:spPr>
          <a:xfrm>
            <a:off x="6695202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D6A0A5A-2A66-0077-278A-8D3911638F76}"/>
              </a:ext>
            </a:extLst>
          </p:cNvPr>
          <p:cNvSpPr/>
          <p:nvPr/>
        </p:nvSpPr>
        <p:spPr>
          <a:xfrm>
            <a:off x="7380281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354D7B-8A12-5F43-812A-488C5FBFB22B}"/>
              </a:ext>
            </a:extLst>
          </p:cNvPr>
          <p:cNvSpPr txBox="1"/>
          <p:nvPr/>
        </p:nvSpPr>
        <p:spPr>
          <a:xfrm>
            <a:off x="4507704" y="1179275"/>
            <a:ext cx="3193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전략가형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0F9D09-236F-C313-C018-6C52F2ACCBE6}"/>
              </a:ext>
            </a:extLst>
          </p:cNvPr>
          <p:cNvSpPr txBox="1"/>
          <p:nvPr/>
        </p:nvSpPr>
        <p:spPr>
          <a:xfrm>
            <a:off x="4504815" y="1610673"/>
            <a:ext cx="31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공격적이지만 분산해서 장기 투자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CE2D7737-8AD5-0BDF-7518-FAC976013DDA}"/>
              </a:ext>
            </a:extLst>
          </p:cNvPr>
          <p:cNvSpPr/>
          <p:nvPr/>
        </p:nvSpPr>
        <p:spPr>
          <a:xfrm>
            <a:off x="5625789" y="867143"/>
            <a:ext cx="957010" cy="286017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ALDA</a:t>
            </a:r>
            <a:endParaRPr lang="ko-KR" altLang="en-US" sz="12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38415E5-0E56-489E-F6A0-7D1C7586D11A}"/>
              </a:ext>
            </a:extLst>
          </p:cNvPr>
          <p:cNvSpPr txBox="1"/>
          <p:nvPr/>
        </p:nvSpPr>
        <p:spPr>
          <a:xfrm>
            <a:off x="4504815" y="2380073"/>
            <a:ext cx="15139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주요 성향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7369BE63-D888-9DA9-AE97-5830776A5260}"/>
              </a:ext>
            </a:extLst>
          </p:cNvPr>
          <p:cNvSpPr/>
          <p:nvPr/>
        </p:nvSpPr>
        <p:spPr>
          <a:xfrm>
            <a:off x="4639574" y="3055147"/>
            <a:ext cx="2912024" cy="7659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4AD03951-0985-A372-932C-62B752E97540}"/>
              </a:ext>
            </a:extLst>
          </p:cNvPr>
          <p:cNvSpPr/>
          <p:nvPr/>
        </p:nvSpPr>
        <p:spPr>
          <a:xfrm>
            <a:off x="4639574" y="3055352"/>
            <a:ext cx="2330152" cy="76390"/>
          </a:xfrm>
          <a:prstGeom prst="roundRect">
            <a:avLst>
              <a:gd name="adj" fmla="val 50000"/>
            </a:avLst>
          </a:prstGeom>
          <a:solidFill>
            <a:srgbClr val="155D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D53E966-1F70-DCAF-EEC2-624EA5D88D35}"/>
              </a:ext>
            </a:extLst>
          </p:cNvPr>
          <p:cNvSpPr txBox="1"/>
          <p:nvPr/>
        </p:nvSpPr>
        <p:spPr>
          <a:xfrm>
            <a:off x="6091604" y="2816193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공격형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E44D8C-2629-8A14-9D3A-B77AA517901D}"/>
              </a:ext>
            </a:extLst>
          </p:cNvPr>
          <p:cNvSpPr txBox="1"/>
          <p:nvPr/>
        </p:nvSpPr>
        <p:spPr>
          <a:xfrm>
            <a:off x="6091604" y="3115513"/>
            <a:ext cx="15498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87.6%</a:t>
            </a:r>
            <a:endParaRPr lang="ko-KR" altLang="en-US" sz="600" dirty="0">
              <a:solidFill>
                <a:schemeClr val="bg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86033AF-45B7-6F35-3D8C-6B0CD90CAA33}"/>
              </a:ext>
            </a:extLst>
          </p:cNvPr>
          <p:cNvSpPr txBox="1"/>
          <p:nvPr/>
        </p:nvSpPr>
        <p:spPr>
          <a:xfrm>
            <a:off x="4554465" y="3419160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투자 기간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65FBC1AC-33D2-7BCE-1B33-0E4CE69CC505}"/>
              </a:ext>
            </a:extLst>
          </p:cNvPr>
          <p:cNvSpPr/>
          <p:nvPr/>
        </p:nvSpPr>
        <p:spPr>
          <a:xfrm>
            <a:off x="4639574" y="3658114"/>
            <a:ext cx="2912024" cy="7659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5F032FD9-C3A4-BABB-3B8A-9AC682DFF8EE}"/>
              </a:ext>
            </a:extLst>
          </p:cNvPr>
          <p:cNvSpPr/>
          <p:nvPr/>
        </p:nvSpPr>
        <p:spPr>
          <a:xfrm>
            <a:off x="4639574" y="3658319"/>
            <a:ext cx="1157586" cy="76390"/>
          </a:xfrm>
          <a:prstGeom prst="roundRect">
            <a:avLst>
              <a:gd name="adj" fmla="val 50000"/>
            </a:avLst>
          </a:prstGeom>
          <a:solidFill>
            <a:srgbClr val="155D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B3391E8-A38C-89A3-CD8C-1746D1F84758}"/>
              </a:ext>
            </a:extLst>
          </p:cNvPr>
          <p:cNvSpPr txBox="1"/>
          <p:nvPr/>
        </p:nvSpPr>
        <p:spPr>
          <a:xfrm>
            <a:off x="6091604" y="3419160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단기형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53EB675-4B48-3DF1-F80F-6687FD1896D5}"/>
              </a:ext>
            </a:extLst>
          </p:cNvPr>
          <p:cNvSpPr txBox="1"/>
          <p:nvPr/>
        </p:nvSpPr>
        <p:spPr>
          <a:xfrm>
            <a:off x="6091604" y="3718480"/>
            <a:ext cx="15498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23</a:t>
            </a:r>
            <a:r>
              <a:rPr lang="ko-KR" altLang="en-US" sz="6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252C6CF-7964-F0E2-E722-182718FEF725}"/>
              </a:ext>
            </a:extLst>
          </p:cNvPr>
          <p:cNvSpPr txBox="1"/>
          <p:nvPr/>
        </p:nvSpPr>
        <p:spPr>
          <a:xfrm>
            <a:off x="4554465" y="4027261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종목 집중도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EC1AB49-85E6-1EE3-6B90-A13265055240}"/>
              </a:ext>
            </a:extLst>
          </p:cNvPr>
          <p:cNvSpPr/>
          <p:nvPr/>
        </p:nvSpPr>
        <p:spPr>
          <a:xfrm>
            <a:off x="4639574" y="4266215"/>
            <a:ext cx="2912024" cy="7659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ED48F225-6BAD-B04C-E0B6-AEF787FCF0DC}"/>
              </a:ext>
            </a:extLst>
          </p:cNvPr>
          <p:cNvSpPr/>
          <p:nvPr/>
        </p:nvSpPr>
        <p:spPr>
          <a:xfrm>
            <a:off x="4639574" y="4266420"/>
            <a:ext cx="1684324" cy="76390"/>
          </a:xfrm>
          <a:prstGeom prst="roundRect">
            <a:avLst>
              <a:gd name="adj" fmla="val 50000"/>
            </a:avLst>
          </a:prstGeom>
          <a:solidFill>
            <a:srgbClr val="155D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84691B7-2AE1-A54D-0FC8-08AE60A9BB9D}"/>
              </a:ext>
            </a:extLst>
          </p:cNvPr>
          <p:cNvSpPr txBox="1"/>
          <p:nvPr/>
        </p:nvSpPr>
        <p:spPr>
          <a:xfrm>
            <a:off x="6091604" y="4027261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분산형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60BDBD5-9804-2B94-5E99-2CFDFF32AAD1}"/>
              </a:ext>
            </a:extLst>
          </p:cNvPr>
          <p:cNvSpPr txBox="1"/>
          <p:nvPr/>
        </p:nvSpPr>
        <p:spPr>
          <a:xfrm>
            <a:off x="6091604" y="4326581"/>
            <a:ext cx="15498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6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종목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8E911A7-BA56-4F62-2FFE-3433154172E4}"/>
              </a:ext>
            </a:extLst>
          </p:cNvPr>
          <p:cNvSpPr txBox="1"/>
          <p:nvPr/>
        </p:nvSpPr>
        <p:spPr>
          <a:xfrm>
            <a:off x="4554465" y="4630228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판단 기준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F8FCF88D-7CCC-AD47-A471-C06CA4D3390C}"/>
              </a:ext>
            </a:extLst>
          </p:cNvPr>
          <p:cNvSpPr/>
          <p:nvPr/>
        </p:nvSpPr>
        <p:spPr>
          <a:xfrm>
            <a:off x="4639574" y="4869182"/>
            <a:ext cx="2912024" cy="7659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1C7FE4C-3426-2414-6CC5-17AE2BDC126B}"/>
              </a:ext>
            </a:extLst>
          </p:cNvPr>
          <p:cNvSpPr/>
          <p:nvPr/>
        </p:nvSpPr>
        <p:spPr>
          <a:xfrm>
            <a:off x="4639573" y="4869387"/>
            <a:ext cx="1609649" cy="76390"/>
          </a:xfrm>
          <a:prstGeom prst="roundRect">
            <a:avLst>
              <a:gd name="adj" fmla="val 50000"/>
            </a:avLst>
          </a:prstGeom>
          <a:solidFill>
            <a:srgbClr val="155D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22B4334-FD40-7235-14A1-B681B641318F}"/>
              </a:ext>
            </a:extLst>
          </p:cNvPr>
          <p:cNvSpPr txBox="1"/>
          <p:nvPr/>
        </p:nvSpPr>
        <p:spPr>
          <a:xfrm>
            <a:off x="6091604" y="4630228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분석형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E08BCFA-3B2A-38BC-B809-949B35D6F832}"/>
              </a:ext>
            </a:extLst>
          </p:cNvPr>
          <p:cNvSpPr txBox="1"/>
          <p:nvPr/>
        </p:nvSpPr>
        <p:spPr>
          <a:xfrm>
            <a:off x="6091604" y="4929548"/>
            <a:ext cx="15498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55.5%</a:t>
            </a:r>
            <a:endParaRPr lang="ko-KR" altLang="en-US" sz="600" dirty="0">
              <a:solidFill>
                <a:schemeClr val="bg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1F8CB20-D552-B40A-234A-24E507914206}"/>
              </a:ext>
            </a:extLst>
          </p:cNvPr>
          <p:cNvSpPr txBox="1"/>
          <p:nvPr/>
        </p:nvSpPr>
        <p:spPr>
          <a:xfrm>
            <a:off x="4504815" y="5455530"/>
            <a:ext cx="15139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기타 성향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E691B20-30E5-5C58-C025-DCD6974A7647}"/>
              </a:ext>
            </a:extLst>
          </p:cNvPr>
          <p:cNvSpPr txBox="1"/>
          <p:nvPr/>
        </p:nvSpPr>
        <p:spPr>
          <a:xfrm>
            <a:off x="4554465" y="5946850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손절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성향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3936C1A-8DC2-87DC-9ED5-C9DF89F4C424}"/>
              </a:ext>
            </a:extLst>
          </p:cNvPr>
          <p:cNvSpPr txBox="1"/>
          <p:nvPr/>
        </p:nvSpPr>
        <p:spPr>
          <a:xfrm>
            <a:off x="6091604" y="5946850"/>
            <a:ext cx="1549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인내형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EC6F1-962B-895E-D0E6-4173B2653DD8}"/>
              </a:ext>
            </a:extLst>
          </p:cNvPr>
          <p:cNvSpPr txBox="1"/>
          <p:nvPr/>
        </p:nvSpPr>
        <p:spPr>
          <a:xfrm>
            <a:off x="7945915" y="5934670"/>
            <a:ext cx="424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400" dirty="0">
                <a:solidFill>
                  <a:srgbClr val="05CD9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투자 성향 분석</a:t>
            </a:r>
          </a:p>
        </p:txBody>
      </p:sp>
    </p:spTree>
    <p:extLst>
      <p:ext uri="{BB962C8B-B14F-4D97-AF65-F5344CB8AC3E}">
        <p14:creationId xmlns:p14="http://schemas.microsoft.com/office/powerpoint/2010/main" val="853401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968A-3B6A-57E1-6825-4E32856F2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BC4A937-0BA5-306E-0202-6141656A5839}"/>
              </a:ext>
            </a:extLst>
          </p:cNvPr>
          <p:cNvSpPr/>
          <p:nvPr/>
        </p:nvSpPr>
        <p:spPr>
          <a:xfrm>
            <a:off x="4427219" y="0"/>
            <a:ext cx="3337559" cy="6858000"/>
          </a:xfrm>
          <a:prstGeom prst="rect">
            <a:avLst/>
          </a:prstGeom>
          <a:solidFill>
            <a:srgbClr val="F7F7F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B372D3DC-00D1-68E7-0048-B897DBCA1885}"/>
              </a:ext>
            </a:extLst>
          </p:cNvPr>
          <p:cNvSpPr/>
          <p:nvPr/>
        </p:nvSpPr>
        <p:spPr>
          <a:xfrm>
            <a:off x="5109412" y="5178726"/>
            <a:ext cx="2583325" cy="609600"/>
          </a:xfrm>
          <a:prstGeom prst="roundRect">
            <a:avLst>
              <a:gd name="adj" fmla="val 16699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2" name="사각형: 둥근 모서리 221">
            <a:extLst>
              <a:ext uri="{FF2B5EF4-FFF2-40B4-BE49-F238E27FC236}">
                <a16:creationId xmlns:a16="http://schemas.microsoft.com/office/drawing/2014/main" id="{E34FA89B-D348-C515-D4ED-860E5EF1AFF8}"/>
              </a:ext>
            </a:extLst>
          </p:cNvPr>
          <p:cNvSpPr/>
          <p:nvPr/>
        </p:nvSpPr>
        <p:spPr>
          <a:xfrm>
            <a:off x="5193089" y="5275361"/>
            <a:ext cx="544003" cy="201644"/>
          </a:xfrm>
          <a:prstGeom prst="roundRect">
            <a:avLst>
              <a:gd name="adj" fmla="val 17911"/>
            </a:avLst>
          </a:prstGeom>
          <a:gradFill>
            <a:gsLst>
              <a:gs pos="100000">
                <a:srgbClr val="E96D71"/>
              </a:gs>
              <a:gs pos="0">
                <a:srgbClr val="F6C667"/>
              </a:gs>
            </a:gsLst>
            <a:lin ang="2700000" scaled="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SSCA</a:t>
            </a:r>
            <a:endParaRPr lang="ko-KR" altLang="en-US" sz="1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CD315D8E-AE33-FDF6-E45B-494DFC0438F2}"/>
              </a:ext>
            </a:extLst>
          </p:cNvPr>
          <p:cNvSpPr txBox="1"/>
          <p:nvPr/>
        </p:nvSpPr>
        <p:spPr>
          <a:xfrm>
            <a:off x="5739981" y="5245378"/>
            <a:ext cx="970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Miku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7BE055F-A588-A0C5-5FC3-54838DE923DF}"/>
              </a:ext>
            </a:extLst>
          </p:cNvPr>
          <p:cNvSpPr txBox="1"/>
          <p:nvPr/>
        </p:nvSpPr>
        <p:spPr>
          <a:xfrm>
            <a:off x="6010341" y="5271395"/>
            <a:ext cx="16228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393,939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23B6F9F-0E04-45F3-AA43-8DE0CA354C1A}"/>
              </a:ext>
            </a:extLst>
          </p:cNvPr>
          <p:cNvSpPr txBox="1"/>
          <p:nvPr/>
        </p:nvSpPr>
        <p:spPr>
          <a:xfrm>
            <a:off x="4496373" y="5241189"/>
            <a:ext cx="59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47711C3F-16B6-5CB2-02BE-AE6305A1C834}"/>
              </a:ext>
            </a:extLst>
          </p:cNvPr>
          <p:cNvSpPr/>
          <p:nvPr/>
        </p:nvSpPr>
        <p:spPr>
          <a:xfrm>
            <a:off x="4430108" y="5356223"/>
            <a:ext cx="3337559" cy="9764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D289F7-B3A0-0F12-CA9C-F9A142653FD1}"/>
              </a:ext>
            </a:extLst>
          </p:cNvPr>
          <p:cNvSpPr/>
          <p:nvPr/>
        </p:nvSpPr>
        <p:spPr>
          <a:xfrm>
            <a:off x="4430108" y="0"/>
            <a:ext cx="3337559" cy="474077"/>
          </a:xfrm>
          <a:prstGeom prst="rect">
            <a:avLst/>
          </a:prstGeom>
          <a:solidFill>
            <a:srgbClr val="155DFC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E5C9ED-793E-DEBF-08B6-0CA733644F0B}"/>
              </a:ext>
            </a:extLst>
          </p:cNvPr>
          <p:cNvSpPr txBox="1"/>
          <p:nvPr/>
        </p:nvSpPr>
        <p:spPr>
          <a:xfrm>
            <a:off x="4499262" y="83201"/>
            <a:ext cx="2130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MindStock</a:t>
            </a:r>
            <a:endParaRPr lang="ko-KR" altLang="en-US" sz="14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96D184-FF94-DD30-F0AA-99F8CA656F77}"/>
              </a:ext>
            </a:extLst>
          </p:cNvPr>
          <p:cNvGrpSpPr/>
          <p:nvPr/>
        </p:nvGrpSpPr>
        <p:grpSpPr>
          <a:xfrm>
            <a:off x="6961284" y="154579"/>
            <a:ext cx="124189" cy="166868"/>
            <a:chOff x="6622026" y="1650222"/>
            <a:chExt cx="845574" cy="1136158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6E386D7-8040-EF75-924E-61E68F80D9F4}"/>
                </a:ext>
              </a:extLst>
            </p:cNvPr>
            <p:cNvSpPr/>
            <p:nvPr/>
          </p:nvSpPr>
          <p:spPr>
            <a:xfrm>
              <a:off x="6670921" y="1650222"/>
              <a:ext cx="747784" cy="7477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이등변 삼각형 36">
              <a:extLst>
                <a:ext uri="{FF2B5EF4-FFF2-40B4-BE49-F238E27FC236}">
                  <a16:creationId xmlns:a16="http://schemas.microsoft.com/office/drawing/2014/main" id="{7A1D438B-C67B-15A3-558C-B53CDCB98908}"/>
                </a:ext>
              </a:extLst>
            </p:cNvPr>
            <p:cNvSpPr/>
            <p:nvPr/>
          </p:nvSpPr>
          <p:spPr>
            <a:xfrm>
              <a:off x="6622026" y="2009632"/>
              <a:ext cx="845574" cy="77674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FC72275-53AD-C0A2-D187-68E7CD217431}"/>
              </a:ext>
            </a:extLst>
          </p:cNvPr>
          <p:cNvSpPr txBox="1"/>
          <p:nvPr/>
        </p:nvSpPr>
        <p:spPr>
          <a:xfrm>
            <a:off x="7088362" y="93230"/>
            <a:ext cx="620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</a:t>
            </a:r>
            <a:r>
              <a:rPr lang="ko-KR" altLang="en-US" sz="12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6B3F5DF-F2CA-27D7-2792-0B91E742A539}"/>
              </a:ext>
            </a:extLst>
          </p:cNvPr>
          <p:cNvSpPr/>
          <p:nvPr/>
        </p:nvSpPr>
        <p:spPr>
          <a:xfrm>
            <a:off x="4430108" y="6248400"/>
            <a:ext cx="3337559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939800" dist="38100" dir="16200000" sx="142000" sy="142000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65D797-5B30-F660-B2D2-F9D55B4268B8}"/>
              </a:ext>
            </a:extLst>
          </p:cNvPr>
          <p:cNvSpPr txBox="1"/>
          <p:nvPr/>
        </p:nvSpPr>
        <p:spPr>
          <a:xfrm>
            <a:off x="5788718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322B84-3FD9-43BC-97AE-F2D208BCF30E}"/>
              </a:ext>
            </a:extLst>
          </p:cNvPr>
          <p:cNvSpPr txBox="1"/>
          <p:nvPr/>
        </p:nvSpPr>
        <p:spPr>
          <a:xfrm>
            <a:off x="4430107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8B6A58-E86A-465C-2B1F-5E261757DEA9}"/>
              </a:ext>
            </a:extLst>
          </p:cNvPr>
          <p:cNvSpPr txBox="1"/>
          <p:nvPr/>
        </p:nvSpPr>
        <p:spPr>
          <a:xfrm>
            <a:off x="5109412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뉴스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8001B7-B6CB-3710-BF88-1EBCF2EF2A31}"/>
              </a:ext>
            </a:extLst>
          </p:cNvPr>
          <p:cNvSpPr txBox="1"/>
          <p:nvPr/>
        </p:nvSpPr>
        <p:spPr>
          <a:xfrm>
            <a:off x="6468024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성향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A5010B-949B-DFBF-0815-41222A9B4440}"/>
              </a:ext>
            </a:extLst>
          </p:cNvPr>
          <p:cNvSpPr txBox="1"/>
          <p:nvPr/>
        </p:nvSpPr>
        <p:spPr>
          <a:xfrm>
            <a:off x="7147329" y="6573253"/>
            <a:ext cx="6203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155DF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랭킹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DD2A45A-34F4-7647-CFDE-001E05354BB5}"/>
              </a:ext>
            </a:extLst>
          </p:cNvPr>
          <p:cNvSpPr/>
          <p:nvPr/>
        </p:nvSpPr>
        <p:spPr>
          <a:xfrm>
            <a:off x="4654617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C819E9B-81BF-E077-211F-4C916DA04EFE}"/>
              </a:ext>
            </a:extLst>
          </p:cNvPr>
          <p:cNvSpPr/>
          <p:nvPr/>
        </p:nvSpPr>
        <p:spPr>
          <a:xfrm>
            <a:off x="5333922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CC1CB9D-6DB9-8BCA-0324-77052BB5105D}"/>
              </a:ext>
            </a:extLst>
          </p:cNvPr>
          <p:cNvSpPr/>
          <p:nvPr/>
        </p:nvSpPr>
        <p:spPr>
          <a:xfrm>
            <a:off x="6010341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91F0A42-F15D-2E1D-E197-0160DB5E010E}"/>
              </a:ext>
            </a:extLst>
          </p:cNvPr>
          <p:cNvSpPr/>
          <p:nvPr/>
        </p:nvSpPr>
        <p:spPr>
          <a:xfrm>
            <a:off x="6686760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7C4F598-D46F-DB85-E2B7-ECEFA90C5953}"/>
              </a:ext>
            </a:extLst>
          </p:cNvPr>
          <p:cNvSpPr/>
          <p:nvPr/>
        </p:nvSpPr>
        <p:spPr>
          <a:xfrm>
            <a:off x="7371839" y="6401936"/>
            <a:ext cx="171317" cy="1713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2B5A31FB-ED2A-0037-A21C-B88394C34D99}"/>
              </a:ext>
            </a:extLst>
          </p:cNvPr>
          <p:cNvSpPr/>
          <p:nvPr/>
        </p:nvSpPr>
        <p:spPr>
          <a:xfrm>
            <a:off x="5109412" y="5496427"/>
            <a:ext cx="2583325" cy="609600"/>
          </a:xfrm>
          <a:prstGeom prst="roundRect">
            <a:avLst>
              <a:gd name="adj" fmla="val 16699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2A06C583-4820-955B-0B83-DD034952A721}"/>
              </a:ext>
            </a:extLst>
          </p:cNvPr>
          <p:cNvSpPr/>
          <p:nvPr/>
        </p:nvSpPr>
        <p:spPr>
          <a:xfrm>
            <a:off x="5193089" y="5593062"/>
            <a:ext cx="544003" cy="201644"/>
          </a:xfrm>
          <a:prstGeom prst="roundRect">
            <a:avLst>
              <a:gd name="adj" fmla="val 17911"/>
            </a:avLst>
          </a:prstGeom>
          <a:gradFill>
            <a:gsLst>
              <a:gs pos="0">
                <a:srgbClr val="F093FB"/>
              </a:gs>
              <a:gs pos="99000">
                <a:srgbClr val="F5576C"/>
              </a:gs>
            </a:gsLst>
            <a:lin ang="2700000" scaled="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ALDA</a:t>
            </a:r>
            <a:endParaRPr lang="ko-KR" altLang="en-US" sz="1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49DDE45-3449-BF5C-EB2D-9B7DA1A110C3}"/>
              </a:ext>
            </a:extLst>
          </p:cNvPr>
          <p:cNvSpPr txBox="1"/>
          <p:nvPr/>
        </p:nvSpPr>
        <p:spPr>
          <a:xfrm>
            <a:off x="5739981" y="5563079"/>
            <a:ext cx="970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91C3FA6-B8AA-F4BC-68AC-16E2B39713F9}"/>
              </a:ext>
            </a:extLst>
          </p:cNvPr>
          <p:cNvSpPr txBox="1"/>
          <p:nvPr/>
        </p:nvSpPr>
        <p:spPr>
          <a:xfrm>
            <a:off x="6034833" y="5589096"/>
            <a:ext cx="16228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8,224,506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28FF150-623C-E3E0-0D55-E149DE8BCEB0}"/>
              </a:ext>
            </a:extLst>
          </p:cNvPr>
          <p:cNvSpPr txBox="1"/>
          <p:nvPr/>
        </p:nvSpPr>
        <p:spPr>
          <a:xfrm>
            <a:off x="5106523" y="5828563"/>
            <a:ext cx="170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37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    승률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62%  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+234,567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B394F46-7631-9273-06E3-745F0E810C55}"/>
              </a:ext>
            </a:extLst>
          </p:cNvPr>
          <p:cNvSpPr txBox="1"/>
          <p:nvPr/>
        </p:nvSpPr>
        <p:spPr>
          <a:xfrm>
            <a:off x="6779622" y="5830703"/>
            <a:ext cx="8780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solidFill>
                  <a:srgbClr val="1EFEA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천마전자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700" dirty="0" err="1">
                <a:solidFill>
                  <a:srgbClr val="EE00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보리푸드</a:t>
            </a:r>
            <a:endParaRPr lang="ko-KR" altLang="en-US" sz="700" dirty="0">
              <a:solidFill>
                <a:srgbClr val="EE006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D289559-02E9-6151-EAEE-5C63B3372FA3}"/>
              </a:ext>
            </a:extLst>
          </p:cNvPr>
          <p:cNvSpPr txBox="1"/>
          <p:nvPr/>
        </p:nvSpPr>
        <p:spPr>
          <a:xfrm>
            <a:off x="4496373" y="5558890"/>
            <a:ext cx="59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5D0BC3F5-DBDB-B0B6-ECF3-7C2B0AEEB357}"/>
              </a:ext>
            </a:extLst>
          </p:cNvPr>
          <p:cNvSpPr/>
          <p:nvPr/>
        </p:nvSpPr>
        <p:spPr>
          <a:xfrm>
            <a:off x="5109412" y="567307"/>
            <a:ext cx="2583325" cy="609600"/>
          </a:xfrm>
          <a:prstGeom prst="roundRect">
            <a:avLst>
              <a:gd name="adj" fmla="val 16699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5E86BA1E-9350-1317-458F-5ADE5253E7A9}"/>
              </a:ext>
            </a:extLst>
          </p:cNvPr>
          <p:cNvSpPr/>
          <p:nvPr/>
        </p:nvSpPr>
        <p:spPr>
          <a:xfrm>
            <a:off x="5193089" y="663942"/>
            <a:ext cx="544003" cy="201644"/>
          </a:xfrm>
          <a:prstGeom prst="roundRect">
            <a:avLst>
              <a:gd name="adj" fmla="val 17911"/>
            </a:avLst>
          </a:prstGeom>
          <a:gradFill>
            <a:gsLst>
              <a:gs pos="0">
                <a:srgbClr val="F093FB"/>
              </a:gs>
              <a:gs pos="99000">
                <a:srgbClr val="F5576C"/>
              </a:gs>
            </a:gsLst>
            <a:lin ang="2700000" scaled="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ALDA</a:t>
            </a:r>
            <a:endParaRPr lang="ko-KR" altLang="en-US" sz="1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BED6165-3AAA-0229-3A19-E119C2B37047}"/>
              </a:ext>
            </a:extLst>
          </p:cNvPr>
          <p:cNvSpPr txBox="1"/>
          <p:nvPr/>
        </p:nvSpPr>
        <p:spPr>
          <a:xfrm>
            <a:off x="5739981" y="633959"/>
            <a:ext cx="970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4895707-0C72-6767-E548-03888BEA0CE1}"/>
              </a:ext>
            </a:extLst>
          </p:cNvPr>
          <p:cNvSpPr txBox="1"/>
          <p:nvPr/>
        </p:nvSpPr>
        <p:spPr>
          <a:xfrm>
            <a:off x="6034833" y="659976"/>
            <a:ext cx="16228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8,224,506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065991-58F7-B752-47B7-401664C5A79B}"/>
              </a:ext>
            </a:extLst>
          </p:cNvPr>
          <p:cNvSpPr txBox="1"/>
          <p:nvPr/>
        </p:nvSpPr>
        <p:spPr>
          <a:xfrm>
            <a:off x="5106523" y="899443"/>
            <a:ext cx="170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37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    승률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62%  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+234,567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2EDC8D3-129A-AEEC-1BE2-9FF955CB4024}"/>
              </a:ext>
            </a:extLst>
          </p:cNvPr>
          <p:cNvSpPr txBox="1"/>
          <p:nvPr/>
        </p:nvSpPr>
        <p:spPr>
          <a:xfrm>
            <a:off x="6779622" y="901583"/>
            <a:ext cx="8780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solidFill>
                  <a:srgbClr val="1EFEA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천마전자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700" dirty="0" err="1">
                <a:solidFill>
                  <a:srgbClr val="EE00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보리푸드</a:t>
            </a:r>
            <a:endParaRPr lang="ko-KR" altLang="en-US" sz="700" dirty="0">
              <a:solidFill>
                <a:srgbClr val="EE006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B88B273-15DB-643C-162D-376E5F398287}"/>
              </a:ext>
            </a:extLst>
          </p:cNvPr>
          <p:cNvSpPr txBox="1"/>
          <p:nvPr/>
        </p:nvSpPr>
        <p:spPr>
          <a:xfrm>
            <a:off x="4496373" y="629770"/>
            <a:ext cx="59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F6C66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endParaRPr lang="ko-KR" altLang="en-US" sz="2000" dirty="0">
              <a:solidFill>
                <a:srgbClr val="F6C667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A4775E01-C15D-F110-991F-6FFB777F622A}"/>
              </a:ext>
            </a:extLst>
          </p:cNvPr>
          <p:cNvSpPr/>
          <p:nvPr/>
        </p:nvSpPr>
        <p:spPr>
          <a:xfrm>
            <a:off x="5109412" y="1340119"/>
            <a:ext cx="2583325" cy="609600"/>
          </a:xfrm>
          <a:prstGeom prst="roundRect">
            <a:avLst>
              <a:gd name="adj" fmla="val 16699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03EED179-22FE-B389-1B01-FF89FF1E51D6}"/>
              </a:ext>
            </a:extLst>
          </p:cNvPr>
          <p:cNvSpPr/>
          <p:nvPr/>
        </p:nvSpPr>
        <p:spPr>
          <a:xfrm>
            <a:off x="5193089" y="1436754"/>
            <a:ext cx="544003" cy="201644"/>
          </a:xfrm>
          <a:prstGeom prst="roundRect">
            <a:avLst>
              <a:gd name="adj" fmla="val 17911"/>
            </a:avLst>
          </a:prstGeom>
          <a:gradFill>
            <a:gsLst>
              <a:gs pos="99000">
                <a:srgbClr val="A1C4FD"/>
              </a:gs>
              <a:gs pos="0">
                <a:srgbClr val="C2E9FB"/>
              </a:gs>
            </a:gsLst>
            <a:lin ang="2700000" scaled="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ALDA</a:t>
            </a:r>
            <a:endParaRPr lang="ko-KR" altLang="en-US" sz="1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B6CD2F1-5FF7-8BC6-4E4B-3DE2183C5A7F}"/>
              </a:ext>
            </a:extLst>
          </p:cNvPr>
          <p:cNvSpPr txBox="1"/>
          <p:nvPr/>
        </p:nvSpPr>
        <p:spPr>
          <a:xfrm>
            <a:off x="5739981" y="1406771"/>
            <a:ext cx="970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Seung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93ECB35-ECCE-4E63-E071-05E042C1A8A0}"/>
              </a:ext>
            </a:extLst>
          </p:cNvPr>
          <p:cNvSpPr txBox="1"/>
          <p:nvPr/>
        </p:nvSpPr>
        <p:spPr>
          <a:xfrm>
            <a:off x="6034833" y="1432788"/>
            <a:ext cx="16228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1,189,430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F6591F5-A81B-0092-A21A-05060B88F7E3}"/>
              </a:ext>
            </a:extLst>
          </p:cNvPr>
          <p:cNvSpPr txBox="1"/>
          <p:nvPr/>
        </p:nvSpPr>
        <p:spPr>
          <a:xfrm>
            <a:off x="5106523" y="1672255"/>
            <a:ext cx="170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52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    승률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61%  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+189,430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CCB01-74A7-84F3-1DD9-F552D7474602}"/>
              </a:ext>
            </a:extLst>
          </p:cNvPr>
          <p:cNvSpPr txBox="1"/>
          <p:nvPr/>
        </p:nvSpPr>
        <p:spPr>
          <a:xfrm>
            <a:off x="6779622" y="1674395"/>
            <a:ext cx="8780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solidFill>
                  <a:srgbClr val="1EFEA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철수뱅크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700" dirty="0">
                <a:solidFill>
                  <a:srgbClr val="EE00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천마전자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4E001BC-0891-90D0-59AD-B57D77041A91}"/>
              </a:ext>
            </a:extLst>
          </p:cNvPr>
          <p:cNvSpPr txBox="1"/>
          <p:nvPr/>
        </p:nvSpPr>
        <p:spPr>
          <a:xfrm>
            <a:off x="4496373" y="1402582"/>
            <a:ext cx="59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endParaRPr lang="ko-KR" altLang="en-US" sz="2000" dirty="0">
              <a:solidFill>
                <a:schemeClr val="bg1">
                  <a:lumMod val="7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CFB18B4C-F9DA-67C8-A2A0-DAD7AED45BD0}"/>
              </a:ext>
            </a:extLst>
          </p:cNvPr>
          <p:cNvSpPr/>
          <p:nvPr/>
        </p:nvSpPr>
        <p:spPr>
          <a:xfrm>
            <a:off x="5109412" y="2111544"/>
            <a:ext cx="2583325" cy="609600"/>
          </a:xfrm>
          <a:prstGeom prst="roundRect">
            <a:avLst>
              <a:gd name="adj" fmla="val 16699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6B92857B-9E75-4E96-6B66-560396618EC3}"/>
              </a:ext>
            </a:extLst>
          </p:cNvPr>
          <p:cNvSpPr/>
          <p:nvPr/>
        </p:nvSpPr>
        <p:spPr>
          <a:xfrm>
            <a:off x="5193089" y="2208179"/>
            <a:ext cx="544003" cy="201644"/>
          </a:xfrm>
          <a:prstGeom prst="roundRect">
            <a:avLst>
              <a:gd name="adj" fmla="val 17911"/>
            </a:avLst>
          </a:prstGeom>
          <a:gradFill>
            <a:gsLst>
              <a:gs pos="0">
                <a:srgbClr val="667EEA"/>
              </a:gs>
              <a:gs pos="99000">
                <a:srgbClr val="764BA2"/>
              </a:gs>
            </a:gsLst>
            <a:lin ang="2700000" scaled="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SLDA</a:t>
            </a:r>
            <a:endParaRPr lang="ko-KR" altLang="en-US" sz="1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50E1528-B3F1-3729-1E4E-60ABA41EE7D7}"/>
              </a:ext>
            </a:extLst>
          </p:cNvPr>
          <p:cNvSpPr txBox="1"/>
          <p:nvPr/>
        </p:nvSpPr>
        <p:spPr>
          <a:xfrm>
            <a:off x="5739981" y="2178196"/>
            <a:ext cx="970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Jong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D8E6F59-D835-6F6E-C7FB-F6AF104A4AFE}"/>
              </a:ext>
            </a:extLst>
          </p:cNvPr>
          <p:cNvSpPr txBox="1"/>
          <p:nvPr/>
        </p:nvSpPr>
        <p:spPr>
          <a:xfrm>
            <a:off x="6034833" y="2204213"/>
            <a:ext cx="16228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1,045,280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E555551-E839-3597-5045-B321ACF511C4}"/>
              </a:ext>
            </a:extLst>
          </p:cNvPr>
          <p:cNvSpPr txBox="1"/>
          <p:nvPr/>
        </p:nvSpPr>
        <p:spPr>
          <a:xfrm>
            <a:off x="5106523" y="2443680"/>
            <a:ext cx="170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28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    승률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53%  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+45,280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 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C8D38399-1108-D63A-BA64-E71D99F92306}"/>
              </a:ext>
            </a:extLst>
          </p:cNvPr>
          <p:cNvSpPr txBox="1"/>
          <p:nvPr/>
        </p:nvSpPr>
        <p:spPr>
          <a:xfrm>
            <a:off x="6779622" y="2445820"/>
            <a:ext cx="8780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solidFill>
                  <a:srgbClr val="1EFEA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오픈소스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700" dirty="0">
                <a:solidFill>
                  <a:srgbClr val="EE00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영남상회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D6B026D-B292-52C6-BCA9-88331342FD86}"/>
              </a:ext>
            </a:extLst>
          </p:cNvPr>
          <p:cNvSpPr txBox="1"/>
          <p:nvPr/>
        </p:nvSpPr>
        <p:spPr>
          <a:xfrm>
            <a:off x="4496373" y="2174007"/>
            <a:ext cx="59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E6A57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endParaRPr lang="ko-KR" altLang="en-US" sz="2000" dirty="0">
              <a:solidFill>
                <a:srgbClr val="E6A57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56E111DB-028D-BC3F-956B-F8E85C336C01}"/>
              </a:ext>
            </a:extLst>
          </p:cNvPr>
          <p:cNvSpPr/>
          <p:nvPr/>
        </p:nvSpPr>
        <p:spPr>
          <a:xfrm>
            <a:off x="5109412" y="2884356"/>
            <a:ext cx="2583325" cy="609600"/>
          </a:xfrm>
          <a:prstGeom prst="roundRect">
            <a:avLst>
              <a:gd name="adj" fmla="val 16699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6671F7BB-6331-DBCC-789B-22E26A3B4C96}"/>
              </a:ext>
            </a:extLst>
          </p:cNvPr>
          <p:cNvSpPr/>
          <p:nvPr/>
        </p:nvSpPr>
        <p:spPr>
          <a:xfrm>
            <a:off x="5193089" y="2980991"/>
            <a:ext cx="544003" cy="201644"/>
          </a:xfrm>
          <a:prstGeom prst="roundRect">
            <a:avLst>
              <a:gd name="adj" fmla="val 17911"/>
            </a:avLst>
          </a:prstGeom>
          <a:gradFill>
            <a:gsLst>
              <a:gs pos="0">
                <a:srgbClr val="4776E6"/>
              </a:gs>
              <a:gs pos="99000">
                <a:srgbClr val="8E54E9"/>
              </a:gs>
            </a:gsLst>
            <a:lin ang="2700000" scaled="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SSCS</a:t>
            </a:r>
            <a:endParaRPr lang="ko-KR" altLang="en-US" sz="1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096AE4C-319D-3B9F-1F8B-6ABA82353947}"/>
              </a:ext>
            </a:extLst>
          </p:cNvPr>
          <p:cNvSpPr txBox="1"/>
          <p:nvPr/>
        </p:nvSpPr>
        <p:spPr>
          <a:xfrm>
            <a:off x="5739981" y="2951008"/>
            <a:ext cx="970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Yena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A4C23098-755A-C789-40B7-0F10F5F85A69}"/>
              </a:ext>
            </a:extLst>
          </p:cNvPr>
          <p:cNvSpPr txBox="1"/>
          <p:nvPr/>
        </p:nvSpPr>
        <p:spPr>
          <a:xfrm>
            <a:off x="6034833" y="2977025"/>
            <a:ext cx="16228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987,650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65BF146-DDAF-D704-9531-9725BB53D1F1}"/>
              </a:ext>
            </a:extLst>
          </p:cNvPr>
          <p:cNvSpPr txBox="1"/>
          <p:nvPr/>
        </p:nvSpPr>
        <p:spPr>
          <a:xfrm>
            <a:off x="5106523" y="3216492"/>
            <a:ext cx="170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73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    승률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44%  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-12,350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 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47584B0-BA3C-720C-AE40-A0E78005DD25}"/>
              </a:ext>
            </a:extLst>
          </p:cNvPr>
          <p:cNvSpPr txBox="1"/>
          <p:nvPr/>
        </p:nvSpPr>
        <p:spPr>
          <a:xfrm>
            <a:off x="6779622" y="3218632"/>
            <a:ext cx="8780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 err="1">
                <a:solidFill>
                  <a:srgbClr val="1EFEA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보리푸드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700" dirty="0">
                <a:solidFill>
                  <a:srgbClr val="EE00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홍만건설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25E1DB3-0A05-6EC2-97DC-AEE2741D614D}"/>
              </a:ext>
            </a:extLst>
          </p:cNvPr>
          <p:cNvSpPr txBox="1"/>
          <p:nvPr/>
        </p:nvSpPr>
        <p:spPr>
          <a:xfrm>
            <a:off x="4496373" y="2946819"/>
            <a:ext cx="59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E8A5B7BF-0720-AB22-98DA-D20F36950482}"/>
              </a:ext>
            </a:extLst>
          </p:cNvPr>
          <p:cNvSpPr/>
          <p:nvPr/>
        </p:nvSpPr>
        <p:spPr>
          <a:xfrm>
            <a:off x="5109412" y="3634489"/>
            <a:ext cx="2583325" cy="609600"/>
          </a:xfrm>
          <a:prstGeom prst="roundRect">
            <a:avLst>
              <a:gd name="adj" fmla="val 16699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121C6F98-D52E-075A-4883-DD1A7B841068}"/>
              </a:ext>
            </a:extLst>
          </p:cNvPr>
          <p:cNvSpPr/>
          <p:nvPr/>
        </p:nvSpPr>
        <p:spPr>
          <a:xfrm>
            <a:off x="5193089" y="3731124"/>
            <a:ext cx="544003" cy="201644"/>
          </a:xfrm>
          <a:prstGeom prst="roundRect">
            <a:avLst>
              <a:gd name="adj" fmla="val 17911"/>
            </a:avLst>
          </a:prstGeom>
          <a:gradFill>
            <a:gsLst>
              <a:gs pos="0">
                <a:srgbClr val="FC5C7D"/>
              </a:gs>
              <a:gs pos="99000">
                <a:srgbClr val="6A3093"/>
              </a:gs>
            </a:gsLst>
            <a:lin ang="2700000" scaled="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SLCA</a:t>
            </a:r>
            <a:endParaRPr lang="ko-KR" altLang="en-US" sz="1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7FFF047-99C6-3F37-D2D3-BC26BCA2CDC5}"/>
              </a:ext>
            </a:extLst>
          </p:cNvPr>
          <p:cNvSpPr txBox="1"/>
          <p:nvPr/>
        </p:nvSpPr>
        <p:spPr>
          <a:xfrm>
            <a:off x="5739981" y="3701141"/>
            <a:ext cx="970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Hyun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CA6CFED-AE8C-A4CE-870A-30FD9E79E558}"/>
              </a:ext>
            </a:extLst>
          </p:cNvPr>
          <p:cNvSpPr txBox="1"/>
          <p:nvPr/>
        </p:nvSpPr>
        <p:spPr>
          <a:xfrm>
            <a:off x="6034833" y="3727158"/>
            <a:ext cx="16228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923,100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CC7C7248-C041-73F4-A7E5-AE19A376461C}"/>
              </a:ext>
            </a:extLst>
          </p:cNvPr>
          <p:cNvSpPr txBox="1"/>
          <p:nvPr/>
        </p:nvSpPr>
        <p:spPr>
          <a:xfrm>
            <a:off x="5106523" y="3966625"/>
            <a:ext cx="170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    승률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47%  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-76,900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 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34811EE9-F456-0AD1-3F19-7C341855F40B}"/>
              </a:ext>
            </a:extLst>
          </p:cNvPr>
          <p:cNvSpPr txBox="1"/>
          <p:nvPr/>
        </p:nvSpPr>
        <p:spPr>
          <a:xfrm>
            <a:off x="6779622" y="3968765"/>
            <a:ext cx="8780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solidFill>
                  <a:srgbClr val="1EFEA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천마전자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700" dirty="0" err="1">
                <a:solidFill>
                  <a:srgbClr val="EE00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보리푸드</a:t>
            </a:r>
            <a:endParaRPr lang="ko-KR" altLang="en-US" sz="700" dirty="0">
              <a:solidFill>
                <a:srgbClr val="EE006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0567926-3046-4448-9BE2-0215ACF80876}"/>
              </a:ext>
            </a:extLst>
          </p:cNvPr>
          <p:cNvSpPr txBox="1"/>
          <p:nvPr/>
        </p:nvSpPr>
        <p:spPr>
          <a:xfrm>
            <a:off x="4496373" y="3696952"/>
            <a:ext cx="59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14" name="사각형: 둥근 모서리 213">
            <a:extLst>
              <a:ext uri="{FF2B5EF4-FFF2-40B4-BE49-F238E27FC236}">
                <a16:creationId xmlns:a16="http://schemas.microsoft.com/office/drawing/2014/main" id="{95B8A837-34E5-F509-3CB5-B9D2081C5272}"/>
              </a:ext>
            </a:extLst>
          </p:cNvPr>
          <p:cNvSpPr/>
          <p:nvPr/>
        </p:nvSpPr>
        <p:spPr>
          <a:xfrm>
            <a:off x="5109412" y="4405914"/>
            <a:ext cx="2583325" cy="609600"/>
          </a:xfrm>
          <a:prstGeom prst="roundRect">
            <a:avLst>
              <a:gd name="adj" fmla="val 16699"/>
            </a:avLst>
          </a:prstGeom>
          <a:solidFill>
            <a:schemeClr val="bg1"/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72E55A71-7791-08EA-8F13-11A65AE83A5E}"/>
              </a:ext>
            </a:extLst>
          </p:cNvPr>
          <p:cNvSpPr/>
          <p:nvPr/>
        </p:nvSpPr>
        <p:spPr>
          <a:xfrm>
            <a:off x="5193089" y="4502549"/>
            <a:ext cx="544003" cy="201644"/>
          </a:xfrm>
          <a:prstGeom prst="roundRect">
            <a:avLst>
              <a:gd name="adj" fmla="val 17911"/>
            </a:avLst>
          </a:prstGeom>
          <a:gradFill>
            <a:gsLst>
              <a:gs pos="100000">
                <a:srgbClr val="A18CD1"/>
              </a:gs>
              <a:gs pos="0">
                <a:srgbClr val="FBC2EB"/>
              </a:gs>
            </a:gsLst>
            <a:lin ang="2700000" scaled="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ASDA</a:t>
            </a:r>
            <a:endParaRPr lang="ko-KR" altLang="en-US" sz="1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4371E03-6D16-28E2-8282-8E5B8C037E97}"/>
              </a:ext>
            </a:extLst>
          </p:cNvPr>
          <p:cNvSpPr txBox="1"/>
          <p:nvPr/>
        </p:nvSpPr>
        <p:spPr>
          <a:xfrm>
            <a:off x="5739981" y="4472566"/>
            <a:ext cx="970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Nice222</a:t>
            </a:r>
            <a:endParaRPr lang="ko-KR" altLang="en-US" sz="11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58C50F5-9C7B-C227-5AEA-2DB61EC8E0FC}"/>
              </a:ext>
            </a:extLst>
          </p:cNvPr>
          <p:cNvSpPr txBox="1"/>
          <p:nvPr/>
        </p:nvSpPr>
        <p:spPr>
          <a:xfrm>
            <a:off x="6034833" y="4498583"/>
            <a:ext cx="16228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854,320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F8F4873-C4B6-C7DF-D259-FF1F0EF7BD6C}"/>
              </a:ext>
            </a:extLst>
          </p:cNvPr>
          <p:cNvSpPr txBox="1"/>
          <p:nvPr/>
        </p:nvSpPr>
        <p:spPr>
          <a:xfrm>
            <a:off x="5106523" y="4738050"/>
            <a:ext cx="170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거래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61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    승률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39%   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수익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-145,680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 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21EB1443-E3E3-5601-4B78-52D9B0BCC7A5}"/>
              </a:ext>
            </a:extLst>
          </p:cNvPr>
          <p:cNvSpPr txBox="1"/>
          <p:nvPr/>
        </p:nvSpPr>
        <p:spPr>
          <a:xfrm>
            <a:off x="6779622" y="4740190"/>
            <a:ext cx="87807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solidFill>
                  <a:srgbClr val="1EFEA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홍만건설</a:t>
            </a:r>
            <a:r>
              <a:rPr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ko-KR" altLang="en-US" sz="700" dirty="0">
                <a:solidFill>
                  <a:srgbClr val="EE00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오픈소스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C13B0C0-58B2-B405-4541-09E39B47099C}"/>
              </a:ext>
            </a:extLst>
          </p:cNvPr>
          <p:cNvSpPr txBox="1"/>
          <p:nvPr/>
        </p:nvSpPr>
        <p:spPr>
          <a:xfrm>
            <a:off x="4496373" y="4468377"/>
            <a:ext cx="59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CEAD5D-1BB3-964B-A974-CC4500C076BB}"/>
              </a:ext>
            </a:extLst>
          </p:cNvPr>
          <p:cNvSpPr txBox="1"/>
          <p:nvPr/>
        </p:nvSpPr>
        <p:spPr>
          <a:xfrm>
            <a:off x="7945915" y="5934670"/>
            <a:ext cx="424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400" dirty="0">
                <a:solidFill>
                  <a:srgbClr val="05CD9D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랭킹</a:t>
            </a:r>
          </a:p>
        </p:txBody>
      </p:sp>
    </p:spTree>
    <p:extLst>
      <p:ext uri="{BB962C8B-B14F-4D97-AF65-F5344CB8AC3E}">
        <p14:creationId xmlns:p14="http://schemas.microsoft.com/office/powerpoint/2010/main" val="3057898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Microsoft Office PowerPoint</Application>
  <PresentationFormat>와이드스크린</PresentationFormat>
  <Paragraphs>272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Pretendard</vt:lpstr>
      <vt:lpstr>Pretendard Black</vt:lpstr>
      <vt:lpstr>Pretendard ExtraBold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</cp:revision>
  <dcterms:created xsi:type="dcterms:W3CDTF">2026-05-04T01:04:12Z</dcterms:created>
  <dcterms:modified xsi:type="dcterms:W3CDTF">2026-05-05T12:48:56Z</dcterms:modified>
</cp:coreProperties>
</file>